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5" r:id="rId1"/>
  </p:sldMasterIdLst>
  <p:notesMasterIdLst>
    <p:notesMasterId r:id="rId56"/>
  </p:notesMasterIdLst>
  <p:sldIdLst>
    <p:sldId id="267" r:id="rId2"/>
    <p:sldId id="316" r:id="rId3"/>
    <p:sldId id="268" r:id="rId4"/>
    <p:sldId id="269" r:id="rId5"/>
    <p:sldId id="270" r:id="rId6"/>
    <p:sldId id="271" r:id="rId7"/>
    <p:sldId id="272" r:id="rId8"/>
    <p:sldId id="263" r:id="rId9"/>
    <p:sldId id="264" r:id="rId10"/>
    <p:sldId id="265" r:id="rId11"/>
    <p:sldId id="266"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9" r:id="rId28"/>
    <p:sldId id="288" r:id="rId29"/>
    <p:sldId id="291" r:id="rId30"/>
    <p:sldId id="290" r:id="rId31"/>
    <p:sldId id="292" r:id="rId32"/>
    <p:sldId id="293" r:id="rId33"/>
    <p:sldId id="295" r:id="rId34"/>
    <p:sldId id="294" r:id="rId35"/>
    <p:sldId id="297" r:id="rId36"/>
    <p:sldId id="296" r:id="rId37"/>
    <p:sldId id="299" r:id="rId38"/>
    <p:sldId id="298" r:id="rId39"/>
    <p:sldId id="301" r:id="rId40"/>
    <p:sldId id="300" r:id="rId41"/>
    <p:sldId id="303" r:id="rId42"/>
    <p:sldId id="302" r:id="rId43"/>
    <p:sldId id="305" r:id="rId44"/>
    <p:sldId id="304" r:id="rId45"/>
    <p:sldId id="307" r:id="rId46"/>
    <p:sldId id="306" r:id="rId47"/>
    <p:sldId id="309" r:id="rId48"/>
    <p:sldId id="308" r:id="rId49"/>
    <p:sldId id="312" r:id="rId50"/>
    <p:sldId id="310" r:id="rId51"/>
    <p:sldId id="311" r:id="rId52"/>
    <p:sldId id="313" r:id="rId53"/>
    <p:sldId id="314" r:id="rId54"/>
    <p:sldId id="315"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2661CD9-56B5-408E-9B11-20F5B2A9F2B3}">
          <p14:sldIdLst>
            <p14:sldId id="267"/>
            <p14:sldId id="316"/>
            <p14:sldId id="268"/>
            <p14:sldId id="269"/>
            <p14:sldId id="270"/>
            <p14:sldId id="271"/>
          </p14:sldIdLst>
        </p14:section>
        <p14:section name="c" id="{ED81E19A-70B6-4CB6-B518-5413687AC8C8}">
          <p14:sldIdLst>
            <p14:sldId id="272"/>
            <p14:sldId id="263"/>
            <p14:sldId id="264"/>
            <p14:sldId id="265"/>
            <p14:sldId id="266"/>
            <p14:sldId id="273"/>
            <p14:sldId id="274"/>
            <p14:sldId id="275"/>
            <p14:sldId id="276"/>
            <p14:sldId id="277"/>
            <p14:sldId id="278"/>
            <p14:sldId id="279"/>
            <p14:sldId id="280"/>
            <p14:sldId id="281"/>
            <p14:sldId id="282"/>
            <p14:sldId id="283"/>
            <p14:sldId id="284"/>
            <p14:sldId id="285"/>
            <p14:sldId id="286"/>
            <p14:sldId id="287"/>
            <p14:sldId id="289"/>
            <p14:sldId id="288"/>
            <p14:sldId id="291"/>
            <p14:sldId id="290"/>
            <p14:sldId id="292"/>
            <p14:sldId id="293"/>
            <p14:sldId id="295"/>
            <p14:sldId id="294"/>
            <p14:sldId id="297"/>
            <p14:sldId id="296"/>
            <p14:sldId id="299"/>
            <p14:sldId id="298"/>
            <p14:sldId id="301"/>
            <p14:sldId id="300"/>
            <p14:sldId id="303"/>
            <p14:sldId id="302"/>
            <p14:sldId id="305"/>
            <p14:sldId id="304"/>
            <p14:sldId id="307"/>
            <p14:sldId id="306"/>
            <p14:sldId id="309"/>
            <p14:sldId id="308"/>
            <p14:sldId id="312"/>
            <p14:sldId id="310"/>
            <p14:sldId id="311"/>
            <p14:sldId id="313"/>
            <p14:sldId id="314"/>
            <p14:sldId id="31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ECC3ED-9F19-4C7A-9E3E-7A2E279D90F2}" type="datetimeFigureOut">
              <a:rPr lang="en-IN" smtClean="0"/>
              <a:t>07-12-2025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A60D23-D723-41F7-8B4C-19F2B7112114}"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82AF5EBF-9E2E-428A-A3B8-6B7458FABB27}" type="datetimeFigureOut">
              <a:rPr lang="en-IN" smtClean="0"/>
              <a:t>07-12-2025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4D6F1F98-98E5-49AE-8669-63BAAA892F4B}"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6692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AF5EBF-9E2E-428A-A3B8-6B7458FABB27}" type="datetimeFigureOut">
              <a:rPr lang="en-IN" smtClean="0"/>
              <a:t>07-12-2025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6F1F98-98E5-49AE-8669-63BAAA892F4B}" type="slidenum">
              <a:rPr lang="en-IN" smtClean="0"/>
              <a:t>‹#›</a:t>
            </a:fld>
            <a:endParaRPr lang="en-IN"/>
          </a:p>
        </p:txBody>
      </p:sp>
    </p:spTree>
    <p:extLst>
      <p:ext uri="{BB962C8B-B14F-4D97-AF65-F5344CB8AC3E}">
        <p14:creationId xmlns:p14="http://schemas.microsoft.com/office/powerpoint/2010/main" val="3195484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2AF5EBF-9E2E-428A-A3B8-6B7458FABB27}" type="datetimeFigureOut">
              <a:rPr lang="en-IN" smtClean="0"/>
              <a:t>07-12-2025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6F1F98-98E5-49AE-8669-63BAAA892F4B}"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95524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2AF5EBF-9E2E-428A-A3B8-6B7458FABB27}" type="datetimeFigureOut">
              <a:rPr lang="en-IN" smtClean="0"/>
              <a:t>07-12-2025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D6F1F98-98E5-49AE-8669-63BAAA892F4B}" type="slidenum">
              <a:rPr lang="en-IN" smtClean="0"/>
              <a:t>‹#›</a:t>
            </a:fld>
            <a:endParaRPr lang="en-IN"/>
          </a:p>
        </p:txBody>
      </p:sp>
    </p:spTree>
    <p:extLst>
      <p:ext uri="{BB962C8B-B14F-4D97-AF65-F5344CB8AC3E}">
        <p14:creationId xmlns:p14="http://schemas.microsoft.com/office/powerpoint/2010/main" val="801530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2AF5EBF-9E2E-428A-A3B8-6B7458FABB27}" type="datetimeFigureOut">
              <a:rPr lang="en-IN" smtClean="0"/>
              <a:t>07-12-2025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D6F1F98-98E5-49AE-8669-63BAAA892F4B}"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87919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2AF5EBF-9E2E-428A-A3B8-6B7458FABB27}" type="datetimeFigureOut">
              <a:rPr lang="en-IN" smtClean="0"/>
              <a:t>07-12-2025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D6F1F98-98E5-49AE-8669-63BAAA892F4B}"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2842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AF5EBF-9E2E-428A-A3B8-6B7458FABB27}" type="datetimeFigureOut">
              <a:rPr lang="en-IN" smtClean="0"/>
              <a:t>07-12-2025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D6F1F98-98E5-49AE-8669-63BAAA892F4B}" type="slidenum">
              <a:rPr lang="en-IN" smtClean="0"/>
              <a:t>‹#›</a:t>
            </a:fld>
            <a:endParaRPr lang="en-IN"/>
          </a:p>
        </p:txBody>
      </p:sp>
    </p:spTree>
    <p:extLst>
      <p:ext uri="{BB962C8B-B14F-4D97-AF65-F5344CB8AC3E}">
        <p14:creationId xmlns:p14="http://schemas.microsoft.com/office/powerpoint/2010/main" val="1075161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2AF5EBF-9E2E-428A-A3B8-6B7458FABB27}" type="datetimeFigureOut">
              <a:rPr lang="en-IN" smtClean="0"/>
              <a:t>07-12-2025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D6F1F98-98E5-49AE-8669-63BAAA892F4B}"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77804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2AF5EBF-9E2E-428A-A3B8-6B7458FABB27}" type="datetimeFigureOut">
              <a:rPr lang="en-IN" smtClean="0"/>
              <a:t>07-12-2025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D6F1F98-98E5-49AE-8669-63BAAA892F4B}" type="slidenum">
              <a:rPr lang="en-IN" smtClean="0"/>
              <a:t>‹#›</a:t>
            </a:fld>
            <a:endParaRPr lang="en-IN"/>
          </a:p>
        </p:txBody>
      </p:sp>
    </p:spTree>
    <p:extLst>
      <p:ext uri="{BB962C8B-B14F-4D97-AF65-F5344CB8AC3E}">
        <p14:creationId xmlns:p14="http://schemas.microsoft.com/office/powerpoint/2010/main" val="402629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2AF5EBF-9E2E-428A-A3B8-6B7458FABB27}" type="datetimeFigureOut">
              <a:rPr lang="en-IN" smtClean="0"/>
              <a:t>07-12-2025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D6F1F98-98E5-49AE-8669-63BAAA892F4B}" type="slidenum">
              <a:rPr lang="en-IN" smtClean="0"/>
              <a:t>‹#›</a:t>
            </a:fld>
            <a:endParaRPr lang="en-IN"/>
          </a:p>
        </p:txBody>
      </p:sp>
    </p:spTree>
    <p:extLst>
      <p:ext uri="{BB962C8B-B14F-4D97-AF65-F5344CB8AC3E}">
        <p14:creationId xmlns:p14="http://schemas.microsoft.com/office/powerpoint/2010/main" val="2488952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2AF5EBF-9E2E-428A-A3B8-6B7458FABB27}" type="datetimeFigureOut">
              <a:rPr lang="en-IN" smtClean="0"/>
              <a:t>07-12-2025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6F1F98-98E5-49AE-8669-63BAAA892F4B}"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106924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2AF5EBF-9E2E-428A-A3B8-6B7458FABB27}" type="datetimeFigureOut">
              <a:rPr lang="en-IN" smtClean="0"/>
              <a:t>07-12-2025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6F1F98-98E5-49AE-8669-63BAAA892F4B}"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05713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2AF5EBF-9E2E-428A-A3B8-6B7458FABB27}" type="datetimeFigureOut">
              <a:rPr lang="en-IN" smtClean="0"/>
              <a:t>07-12-2025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6F1F98-98E5-49AE-8669-63BAAA892F4B}" type="slidenum">
              <a:rPr lang="en-IN" smtClean="0"/>
              <a:t>‹#›</a:t>
            </a:fld>
            <a:endParaRPr lang="en-IN"/>
          </a:p>
        </p:txBody>
      </p:sp>
    </p:spTree>
    <p:extLst>
      <p:ext uri="{BB962C8B-B14F-4D97-AF65-F5344CB8AC3E}">
        <p14:creationId xmlns:p14="http://schemas.microsoft.com/office/powerpoint/2010/main" val="25479876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2AF5EBF-9E2E-428A-A3B8-6B7458FABB27}" type="datetimeFigureOut">
              <a:rPr lang="en-IN" smtClean="0"/>
              <a:t>07-12-2025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6F1F98-98E5-49AE-8669-63BAAA892F4B}"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45291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2AF5EBF-9E2E-428A-A3B8-6B7458FABB27}" type="datetimeFigureOut">
              <a:rPr lang="en-IN" smtClean="0"/>
              <a:t>07-12-2025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6F1F98-98E5-49AE-8669-63BAAA892F4B}"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002332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AF5EBF-9E2E-428A-A3B8-6B7458FABB27}" type="datetimeFigureOut">
              <a:rPr lang="en-IN" smtClean="0"/>
              <a:t>07-12-2025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6F1F98-98E5-49AE-8669-63BAAA892F4B}"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69434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AF5EBF-9E2E-428A-A3B8-6B7458FABB27}" type="datetimeFigureOut">
              <a:rPr lang="en-IN" smtClean="0"/>
              <a:t>07-12-2025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6F1F98-98E5-49AE-8669-63BAAA892F4B}"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57010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2AF5EBF-9E2E-428A-A3B8-6B7458FABB27}" type="datetimeFigureOut">
              <a:rPr lang="en-IN" smtClean="0"/>
              <a:t>07-12-2025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D6F1F98-98E5-49AE-8669-63BAAA892F4B}" type="slidenum">
              <a:rPr lang="en-IN" smtClean="0"/>
              <a:t>‹#›</a:t>
            </a:fld>
            <a:endParaRPr lang="en-IN"/>
          </a:p>
        </p:txBody>
      </p:sp>
    </p:spTree>
    <p:extLst>
      <p:ext uri="{BB962C8B-B14F-4D97-AF65-F5344CB8AC3E}">
        <p14:creationId xmlns:p14="http://schemas.microsoft.com/office/powerpoint/2010/main" val="2054831134"/>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flipH="1">
            <a:off x="878540" y="546847"/>
            <a:ext cx="9278471" cy="3723005"/>
          </a:xfrm>
          <a:prstGeom prst="rect">
            <a:avLst/>
          </a:prstGeom>
          <a:noFill/>
        </p:spPr>
        <p:txBody>
          <a:bodyPr wrap="square" rtlCol="0">
            <a:spAutoFit/>
          </a:bodyPr>
          <a:lstStyle/>
          <a:p>
            <a:r>
              <a:rPr lang="en-IN" sz="3600" dirty="0">
                <a:latin typeface="Arial Black" panose="020B0A04020102020204" charset="0"/>
                <a:cs typeface="Arial Black" panose="020B0A04020102020204" charset="0"/>
              </a:rPr>
              <a:t>Project Name – Hotel Booking EDA</a:t>
            </a:r>
            <a:br>
              <a:rPr lang="en-IN" sz="3600" dirty="0">
                <a:latin typeface="Arial Black" panose="020B0A04020102020204" charset="0"/>
                <a:cs typeface="Arial Black" panose="020B0A04020102020204" charset="0"/>
              </a:rPr>
            </a:br>
            <a:br>
              <a:rPr lang="en-IN" sz="3600" dirty="0">
                <a:latin typeface="Arial Black" panose="020B0A04020102020204" charset="0"/>
                <a:cs typeface="Arial Black" panose="020B0A04020102020204" charset="0"/>
              </a:rPr>
            </a:br>
            <a:r>
              <a:rPr lang="en-IN" sz="2400" b="1" dirty="0">
                <a:latin typeface="Arial Black" panose="020B0A04020102020204" charset="0"/>
              </a:rPr>
              <a:t>Project</a:t>
            </a:r>
            <a:r>
              <a:rPr lang="en-IN" sz="2400" dirty="0">
                <a:latin typeface="Arial Black" panose="020B0A04020102020204" charset="0"/>
              </a:rPr>
              <a:t> </a:t>
            </a:r>
            <a:r>
              <a:rPr lang="en-IN" sz="2400" b="1" dirty="0">
                <a:latin typeface="Arial Black" panose="020B0A04020102020204" charset="0"/>
              </a:rPr>
              <a:t>Type – </a:t>
            </a:r>
            <a:r>
              <a:rPr lang="en-IN" sz="2400" dirty="0">
                <a:latin typeface="Arial Black" panose="020B0A04020102020204" charset="0"/>
                <a:cs typeface="Arial" panose="020B0604020202020204" pitchFamily="34" charset="0"/>
              </a:rPr>
              <a:t>EDA</a:t>
            </a:r>
            <a:br>
              <a:rPr lang="en-IN" sz="2400" dirty="0">
                <a:latin typeface="Arial Black" panose="020B0A04020102020204" charset="0"/>
              </a:rPr>
            </a:br>
            <a:br>
              <a:rPr lang="en-IN" sz="2400" dirty="0">
                <a:latin typeface="Arial Black" panose="020B0A04020102020204" charset="0"/>
              </a:rPr>
            </a:br>
            <a:r>
              <a:rPr lang="en-IN" sz="2400" b="1" dirty="0">
                <a:latin typeface="Arial Black" panose="020B0A04020102020204" charset="0"/>
              </a:rPr>
              <a:t>Contribution</a:t>
            </a:r>
            <a:r>
              <a:rPr lang="en-IN" sz="2400" dirty="0">
                <a:latin typeface="Arial Black" panose="020B0A04020102020204" charset="0"/>
              </a:rPr>
              <a:t>  - </a:t>
            </a:r>
            <a:r>
              <a:rPr lang="en-IN" sz="2000" dirty="0">
                <a:latin typeface="Arial Black" panose="020B0A04020102020204" charset="0"/>
              </a:rPr>
              <a:t>Rohan Bhore</a:t>
            </a:r>
            <a:br>
              <a:rPr lang="en-IN" sz="2000" dirty="0">
                <a:latin typeface="Arial Black" panose="020B0A04020102020204" charset="0"/>
              </a:rPr>
            </a:br>
            <a:br>
              <a:rPr lang="en-IN" sz="2000" dirty="0">
                <a:latin typeface="Arial Black" panose="020B0A04020102020204" charset="0"/>
              </a:rPr>
            </a:br>
            <a:br>
              <a:rPr lang="en-IN" sz="2400" dirty="0">
                <a:latin typeface="Arial Black" panose="020B0A04020102020204" charset="0"/>
              </a:rPr>
            </a:br>
            <a:r>
              <a:rPr lang="en-IN" sz="2400" b="1" dirty="0">
                <a:latin typeface="Arial Black" panose="020B0A04020102020204" charset="0"/>
              </a:rPr>
              <a:t>Guided By</a:t>
            </a:r>
            <a:r>
              <a:rPr lang="en-IN" sz="2400" dirty="0">
                <a:latin typeface="Arial Black" panose="020B0A04020102020204" charset="0"/>
              </a:rPr>
              <a:t> – Abhishek </a:t>
            </a:r>
            <a:r>
              <a:rPr lang="en-IN" sz="2400" dirty="0" err="1">
                <a:latin typeface="Arial Black" panose="020B0A04020102020204" charset="0"/>
              </a:rPr>
              <a:t>Wavhal</a:t>
            </a:r>
            <a:br>
              <a:rPr lang="en-IN" sz="2400" dirty="0">
                <a:latin typeface="Arial Black" panose="020B0A04020102020204" charset="0"/>
              </a:rPr>
            </a:br>
            <a:endParaRPr lang="en-IN" sz="2400" dirty="0">
              <a:latin typeface="Arial Black" panose="020B0A040201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27B99E-375D-4FBA-AC6E-6C2052F974D7}"/>
              </a:ext>
            </a:extLst>
          </p:cNvPr>
          <p:cNvSpPr txBox="1"/>
          <p:nvPr/>
        </p:nvSpPr>
        <p:spPr>
          <a:xfrm>
            <a:off x="4316506" y="143436"/>
            <a:ext cx="8005482" cy="646331"/>
          </a:xfrm>
          <a:prstGeom prst="rect">
            <a:avLst/>
          </a:prstGeom>
          <a:noFill/>
        </p:spPr>
        <p:txBody>
          <a:bodyPr wrap="square" rtlCol="0">
            <a:spAutoFit/>
          </a:bodyPr>
          <a:lstStyle/>
          <a:p>
            <a:r>
              <a:rPr lang="en-IN" sz="3600" u="sng" dirty="0">
                <a:latin typeface="Arial Black" panose="020B0A04020102020204" pitchFamily="34" charset="0"/>
              </a:rPr>
              <a:t>CONTENT</a:t>
            </a:r>
          </a:p>
        </p:txBody>
      </p:sp>
      <p:sp>
        <p:nvSpPr>
          <p:cNvPr id="5" name="TextBox 4">
            <a:extLst>
              <a:ext uri="{FF2B5EF4-FFF2-40B4-BE49-F238E27FC236}">
                <a16:creationId xmlns:a16="http://schemas.microsoft.com/office/drawing/2014/main" id="{DDDFB7B7-F955-4F16-9DFE-EF39F8FFB978}"/>
              </a:ext>
            </a:extLst>
          </p:cNvPr>
          <p:cNvSpPr txBox="1"/>
          <p:nvPr/>
        </p:nvSpPr>
        <p:spPr>
          <a:xfrm>
            <a:off x="1013012" y="1114924"/>
            <a:ext cx="3379694" cy="584775"/>
          </a:xfrm>
          <a:prstGeom prst="rect">
            <a:avLst/>
          </a:prstGeom>
          <a:noFill/>
        </p:spPr>
        <p:txBody>
          <a:bodyPr wrap="square" rtlCol="0">
            <a:spAutoFit/>
          </a:bodyPr>
          <a:lstStyle/>
          <a:p>
            <a:r>
              <a:rPr lang="en-IN" sz="3200" b="1" dirty="0"/>
              <a:t>Project Summary</a:t>
            </a:r>
          </a:p>
        </p:txBody>
      </p:sp>
      <p:sp>
        <p:nvSpPr>
          <p:cNvPr id="6" name="Oval 5">
            <a:extLst>
              <a:ext uri="{FF2B5EF4-FFF2-40B4-BE49-F238E27FC236}">
                <a16:creationId xmlns:a16="http://schemas.microsoft.com/office/drawing/2014/main" id="{959D5265-27A2-4F4D-BD6A-6714F1E681EB}"/>
              </a:ext>
            </a:extLst>
          </p:cNvPr>
          <p:cNvSpPr/>
          <p:nvPr/>
        </p:nvSpPr>
        <p:spPr>
          <a:xfrm>
            <a:off x="811304" y="1360313"/>
            <a:ext cx="134472" cy="1434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
        <p:nvSpPr>
          <p:cNvPr id="7" name="TextBox 6">
            <a:extLst>
              <a:ext uri="{FF2B5EF4-FFF2-40B4-BE49-F238E27FC236}">
                <a16:creationId xmlns:a16="http://schemas.microsoft.com/office/drawing/2014/main" id="{4BDBB2C8-899D-41F8-BD4F-EDFABD048533}"/>
              </a:ext>
            </a:extLst>
          </p:cNvPr>
          <p:cNvSpPr txBox="1"/>
          <p:nvPr/>
        </p:nvSpPr>
        <p:spPr>
          <a:xfrm>
            <a:off x="945776" y="2217730"/>
            <a:ext cx="3774141" cy="584775"/>
          </a:xfrm>
          <a:prstGeom prst="rect">
            <a:avLst/>
          </a:prstGeom>
          <a:noFill/>
        </p:spPr>
        <p:txBody>
          <a:bodyPr wrap="square" rtlCol="0">
            <a:spAutoFit/>
          </a:bodyPr>
          <a:lstStyle/>
          <a:p>
            <a:r>
              <a:rPr lang="en-IN" sz="3200" b="1" dirty="0"/>
              <a:t>Problem Statement</a:t>
            </a:r>
          </a:p>
        </p:txBody>
      </p:sp>
      <p:sp>
        <p:nvSpPr>
          <p:cNvPr id="9" name="TextBox 8">
            <a:extLst>
              <a:ext uri="{FF2B5EF4-FFF2-40B4-BE49-F238E27FC236}">
                <a16:creationId xmlns:a16="http://schemas.microsoft.com/office/drawing/2014/main" id="{38123BA4-51BE-4A74-ACF9-E96C4CCBC087}"/>
              </a:ext>
            </a:extLst>
          </p:cNvPr>
          <p:cNvSpPr txBox="1"/>
          <p:nvPr/>
        </p:nvSpPr>
        <p:spPr>
          <a:xfrm>
            <a:off x="1013012" y="3248819"/>
            <a:ext cx="3747248" cy="584775"/>
          </a:xfrm>
          <a:prstGeom prst="rect">
            <a:avLst/>
          </a:prstGeom>
          <a:noFill/>
        </p:spPr>
        <p:txBody>
          <a:bodyPr wrap="square" rtlCol="0">
            <a:spAutoFit/>
          </a:bodyPr>
          <a:lstStyle/>
          <a:p>
            <a:r>
              <a:rPr lang="en-IN" sz="3200" b="1" dirty="0"/>
              <a:t>Business Objective</a:t>
            </a:r>
          </a:p>
        </p:txBody>
      </p:sp>
      <p:sp>
        <p:nvSpPr>
          <p:cNvPr id="10" name="TextBox 9">
            <a:extLst>
              <a:ext uri="{FF2B5EF4-FFF2-40B4-BE49-F238E27FC236}">
                <a16:creationId xmlns:a16="http://schemas.microsoft.com/office/drawing/2014/main" id="{06B633E9-AB05-45E6-8DCC-37DE31E79447}"/>
              </a:ext>
            </a:extLst>
          </p:cNvPr>
          <p:cNvSpPr txBox="1"/>
          <p:nvPr/>
        </p:nvSpPr>
        <p:spPr>
          <a:xfrm>
            <a:off x="1013012" y="4410635"/>
            <a:ext cx="4894729" cy="584775"/>
          </a:xfrm>
          <a:prstGeom prst="rect">
            <a:avLst/>
          </a:prstGeom>
          <a:noFill/>
        </p:spPr>
        <p:txBody>
          <a:bodyPr wrap="square" rtlCol="0">
            <a:spAutoFit/>
          </a:bodyPr>
          <a:lstStyle/>
          <a:p>
            <a:r>
              <a:rPr lang="en-IN" sz="3200" b="1" dirty="0"/>
              <a:t>Data Exploration</a:t>
            </a:r>
          </a:p>
        </p:txBody>
      </p:sp>
      <p:sp>
        <p:nvSpPr>
          <p:cNvPr id="11" name="Oval 10">
            <a:extLst>
              <a:ext uri="{FF2B5EF4-FFF2-40B4-BE49-F238E27FC236}">
                <a16:creationId xmlns:a16="http://schemas.microsoft.com/office/drawing/2014/main" id="{37C6AB43-2E28-48E4-97BB-36B7A7FA4A18}"/>
              </a:ext>
            </a:extLst>
          </p:cNvPr>
          <p:cNvSpPr/>
          <p:nvPr/>
        </p:nvSpPr>
        <p:spPr>
          <a:xfrm>
            <a:off x="811304" y="2438399"/>
            <a:ext cx="134472" cy="1434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
        <p:nvSpPr>
          <p:cNvPr id="12" name="Oval 11">
            <a:extLst>
              <a:ext uri="{FF2B5EF4-FFF2-40B4-BE49-F238E27FC236}">
                <a16:creationId xmlns:a16="http://schemas.microsoft.com/office/drawing/2014/main" id="{E50162A1-9614-4004-93EA-0F019CFCE2DE}"/>
              </a:ext>
            </a:extLst>
          </p:cNvPr>
          <p:cNvSpPr/>
          <p:nvPr/>
        </p:nvSpPr>
        <p:spPr>
          <a:xfrm>
            <a:off x="811304" y="3469487"/>
            <a:ext cx="134472" cy="1434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
        <p:nvSpPr>
          <p:cNvPr id="13" name="Oval 12">
            <a:extLst>
              <a:ext uri="{FF2B5EF4-FFF2-40B4-BE49-F238E27FC236}">
                <a16:creationId xmlns:a16="http://schemas.microsoft.com/office/drawing/2014/main" id="{87C26A92-B887-4151-B175-8432EE178E8B}"/>
              </a:ext>
            </a:extLst>
          </p:cNvPr>
          <p:cNvSpPr/>
          <p:nvPr/>
        </p:nvSpPr>
        <p:spPr>
          <a:xfrm>
            <a:off x="811304" y="4631304"/>
            <a:ext cx="134472" cy="1434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
        <p:nvSpPr>
          <p:cNvPr id="14" name="TextBox 13">
            <a:extLst>
              <a:ext uri="{FF2B5EF4-FFF2-40B4-BE49-F238E27FC236}">
                <a16:creationId xmlns:a16="http://schemas.microsoft.com/office/drawing/2014/main" id="{B3667A88-78BD-4927-B1B9-4955DD5F67CA}"/>
              </a:ext>
            </a:extLst>
          </p:cNvPr>
          <p:cNvSpPr txBox="1"/>
          <p:nvPr/>
        </p:nvSpPr>
        <p:spPr>
          <a:xfrm>
            <a:off x="6701120" y="1114924"/>
            <a:ext cx="4679576" cy="584775"/>
          </a:xfrm>
          <a:prstGeom prst="rect">
            <a:avLst/>
          </a:prstGeom>
          <a:noFill/>
        </p:spPr>
        <p:txBody>
          <a:bodyPr wrap="square" rtlCol="0">
            <a:spAutoFit/>
          </a:bodyPr>
          <a:lstStyle/>
          <a:p>
            <a:r>
              <a:rPr lang="en-IN" sz="3200" b="1" dirty="0"/>
              <a:t>Know Your Variable</a:t>
            </a:r>
          </a:p>
        </p:txBody>
      </p:sp>
      <p:sp>
        <p:nvSpPr>
          <p:cNvPr id="16" name="TextBox 15">
            <a:extLst>
              <a:ext uri="{FF2B5EF4-FFF2-40B4-BE49-F238E27FC236}">
                <a16:creationId xmlns:a16="http://schemas.microsoft.com/office/drawing/2014/main" id="{BEC9B54C-22FB-4D62-A703-504539D95081}"/>
              </a:ext>
            </a:extLst>
          </p:cNvPr>
          <p:cNvSpPr txBox="1"/>
          <p:nvPr/>
        </p:nvSpPr>
        <p:spPr>
          <a:xfrm>
            <a:off x="6701120" y="2217728"/>
            <a:ext cx="3886202" cy="584775"/>
          </a:xfrm>
          <a:prstGeom prst="rect">
            <a:avLst/>
          </a:prstGeom>
          <a:noFill/>
        </p:spPr>
        <p:txBody>
          <a:bodyPr wrap="square" rtlCol="0">
            <a:spAutoFit/>
          </a:bodyPr>
          <a:lstStyle/>
          <a:p>
            <a:r>
              <a:rPr lang="en-IN" sz="3200" b="1" dirty="0"/>
              <a:t>Features Engineering</a:t>
            </a:r>
          </a:p>
        </p:txBody>
      </p:sp>
      <p:sp>
        <p:nvSpPr>
          <p:cNvPr id="17" name="TextBox 16">
            <a:extLst>
              <a:ext uri="{FF2B5EF4-FFF2-40B4-BE49-F238E27FC236}">
                <a16:creationId xmlns:a16="http://schemas.microsoft.com/office/drawing/2014/main" id="{B1AEB884-429B-49FE-8F96-5940ECFB2E10}"/>
              </a:ext>
            </a:extLst>
          </p:cNvPr>
          <p:cNvSpPr txBox="1"/>
          <p:nvPr/>
        </p:nvSpPr>
        <p:spPr>
          <a:xfrm>
            <a:off x="6701120" y="3321729"/>
            <a:ext cx="4894729" cy="584775"/>
          </a:xfrm>
          <a:prstGeom prst="rect">
            <a:avLst/>
          </a:prstGeom>
          <a:noFill/>
        </p:spPr>
        <p:txBody>
          <a:bodyPr wrap="square" rtlCol="0">
            <a:spAutoFit/>
          </a:bodyPr>
          <a:lstStyle/>
          <a:p>
            <a:r>
              <a:rPr lang="en-IN" sz="3200" b="1" dirty="0"/>
              <a:t>Graphical Visualization</a:t>
            </a:r>
          </a:p>
        </p:txBody>
      </p:sp>
      <p:sp>
        <p:nvSpPr>
          <p:cNvPr id="18" name="TextBox 17">
            <a:extLst>
              <a:ext uri="{FF2B5EF4-FFF2-40B4-BE49-F238E27FC236}">
                <a16:creationId xmlns:a16="http://schemas.microsoft.com/office/drawing/2014/main" id="{F4DD0AB9-3837-4463-8769-2A615A8E6EAF}"/>
              </a:ext>
            </a:extLst>
          </p:cNvPr>
          <p:cNvSpPr txBox="1"/>
          <p:nvPr/>
        </p:nvSpPr>
        <p:spPr>
          <a:xfrm>
            <a:off x="6701120" y="4338916"/>
            <a:ext cx="4303060" cy="584775"/>
          </a:xfrm>
          <a:prstGeom prst="rect">
            <a:avLst/>
          </a:prstGeom>
          <a:noFill/>
        </p:spPr>
        <p:txBody>
          <a:bodyPr wrap="square" rtlCol="0">
            <a:spAutoFit/>
          </a:bodyPr>
          <a:lstStyle/>
          <a:p>
            <a:r>
              <a:rPr lang="en-IN" sz="3200" b="1" dirty="0"/>
              <a:t>Conclusion</a:t>
            </a:r>
          </a:p>
        </p:txBody>
      </p:sp>
      <p:sp>
        <p:nvSpPr>
          <p:cNvPr id="19" name="Oval 18">
            <a:extLst>
              <a:ext uri="{FF2B5EF4-FFF2-40B4-BE49-F238E27FC236}">
                <a16:creationId xmlns:a16="http://schemas.microsoft.com/office/drawing/2014/main" id="{AA7AC6A5-F9FF-4FE2-9032-C277FCFB5B92}"/>
              </a:ext>
            </a:extLst>
          </p:cNvPr>
          <p:cNvSpPr/>
          <p:nvPr/>
        </p:nvSpPr>
        <p:spPr>
          <a:xfrm>
            <a:off x="6396316" y="1360312"/>
            <a:ext cx="134472" cy="1434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
        <p:nvSpPr>
          <p:cNvPr id="20" name="Oval 19">
            <a:extLst>
              <a:ext uri="{FF2B5EF4-FFF2-40B4-BE49-F238E27FC236}">
                <a16:creationId xmlns:a16="http://schemas.microsoft.com/office/drawing/2014/main" id="{BB8F066D-31FD-4D2C-BECB-49CEA5BE0BD0}"/>
              </a:ext>
            </a:extLst>
          </p:cNvPr>
          <p:cNvSpPr/>
          <p:nvPr/>
        </p:nvSpPr>
        <p:spPr>
          <a:xfrm>
            <a:off x="6396316" y="2456765"/>
            <a:ext cx="134472" cy="1434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
        <p:nvSpPr>
          <p:cNvPr id="21" name="Oval 20">
            <a:extLst>
              <a:ext uri="{FF2B5EF4-FFF2-40B4-BE49-F238E27FC236}">
                <a16:creationId xmlns:a16="http://schemas.microsoft.com/office/drawing/2014/main" id="{039D2C85-00E6-4114-8F80-86B1F858FDCE}"/>
              </a:ext>
            </a:extLst>
          </p:cNvPr>
          <p:cNvSpPr/>
          <p:nvPr/>
        </p:nvSpPr>
        <p:spPr>
          <a:xfrm>
            <a:off x="6409764" y="3520955"/>
            <a:ext cx="134472" cy="1434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
        <p:nvSpPr>
          <p:cNvPr id="22" name="Oval 21">
            <a:extLst>
              <a:ext uri="{FF2B5EF4-FFF2-40B4-BE49-F238E27FC236}">
                <a16:creationId xmlns:a16="http://schemas.microsoft.com/office/drawing/2014/main" id="{C842E50B-645E-4BB1-B5AE-DF402CB380E5}"/>
              </a:ext>
            </a:extLst>
          </p:cNvPr>
          <p:cNvSpPr/>
          <p:nvPr/>
        </p:nvSpPr>
        <p:spPr>
          <a:xfrm>
            <a:off x="6396316" y="4585145"/>
            <a:ext cx="134472" cy="1434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Tree>
    <p:extLst>
      <p:ext uri="{BB962C8B-B14F-4D97-AF65-F5344CB8AC3E}">
        <p14:creationId xmlns:p14="http://schemas.microsoft.com/office/powerpoint/2010/main" val="537889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5152" y="132744"/>
            <a:ext cx="11438965" cy="3785652"/>
          </a:xfrm>
          <a:prstGeom prst="rect">
            <a:avLst/>
          </a:prstGeom>
          <a:noFill/>
        </p:spPr>
        <p:txBody>
          <a:bodyPr wrap="square" rtlCol="0">
            <a:spAutoFit/>
          </a:bodyPr>
          <a:lstStyle/>
          <a:p>
            <a:r>
              <a:rPr lang="en-IN" sz="3600" b="1" u="sng" dirty="0">
                <a:latin typeface="Arial Black" panose="020B0A04020102020204" charset="0"/>
              </a:rPr>
              <a:t>Project Summary </a:t>
            </a:r>
            <a:r>
              <a:rPr lang="en-IN" sz="3600" b="1" dirty="0">
                <a:latin typeface="Arial Black" panose="020B0A04020102020204" charset="0"/>
              </a:rPr>
              <a:t>–</a:t>
            </a:r>
          </a:p>
          <a:p>
            <a:br>
              <a:rPr lang="en-IN" sz="3600" b="1" dirty="0"/>
            </a:br>
            <a:r>
              <a:rPr lang="en-IN" sz="2800" b="1" dirty="0"/>
              <a:t>This Project Understands the Business done by Hotel Group. This Dataset had two Hotels City Hotel and Resort Hotel. The data provided was 3 years 2015,2016 and 2017 , we also have the revenue and booking details with no of days of stay and booking cancellation ,total number of guests including children . It also specifies guests wait period for </a:t>
            </a:r>
            <a:r>
              <a:rPr lang="en-IN" sz="2800" b="1" dirty="0" err="1"/>
              <a:t>booking,repeatation</a:t>
            </a:r>
            <a:r>
              <a:rPr lang="en-IN" sz="2800" b="1" dirty="0"/>
              <a:t> of guests ,their food choices among others .</a:t>
            </a:r>
            <a:endParaRPr lang="en-IN" sz="2800" dirty="0"/>
          </a:p>
        </p:txBody>
      </p:sp>
      <p:sp>
        <p:nvSpPr>
          <p:cNvPr id="3" name="TextBox 2"/>
          <p:cNvSpPr txBox="1"/>
          <p:nvPr/>
        </p:nvSpPr>
        <p:spPr>
          <a:xfrm flipH="1">
            <a:off x="215152" y="4392705"/>
            <a:ext cx="11205882" cy="2246769"/>
          </a:xfrm>
          <a:prstGeom prst="rect">
            <a:avLst/>
          </a:prstGeom>
          <a:noFill/>
        </p:spPr>
        <p:txBody>
          <a:bodyPr wrap="square" rtlCol="0">
            <a:spAutoFit/>
          </a:bodyPr>
          <a:lstStyle/>
          <a:p>
            <a:r>
              <a:rPr lang="en-IN" sz="2800" b="1" dirty="0"/>
              <a:t>The data also gives us an analysation of countries from which bookings have been done . We also a agent and other channels who also help in business by booking rooms for guests on the resort and city hotel behalf.                </a:t>
            </a:r>
            <a:br>
              <a:rPr lang="en-IN" sz="2800" b="1" dirty="0"/>
            </a:br>
            <a:br>
              <a:rPr lang="en-IN" sz="2800" b="1" dirty="0"/>
            </a:b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flipH="1">
            <a:off x="421340" y="1012954"/>
            <a:ext cx="11098305" cy="4832092"/>
          </a:xfrm>
          <a:prstGeom prst="rect">
            <a:avLst/>
          </a:prstGeom>
          <a:noFill/>
        </p:spPr>
        <p:txBody>
          <a:bodyPr wrap="square" rtlCol="0">
            <a:spAutoFit/>
          </a:bodyPr>
          <a:lstStyle/>
          <a:p>
            <a:r>
              <a:rPr lang="en-IN" sz="2800" b="1" dirty="0"/>
              <a:t>The data is divided between city hotel and resort </a:t>
            </a:r>
            <a:r>
              <a:rPr lang="en-IN" sz="2800" b="1" dirty="0" err="1"/>
              <a:t>hotel.Hence</a:t>
            </a:r>
            <a:r>
              <a:rPr lang="en-IN" sz="2800" b="1" dirty="0"/>
              <a:t> we can make a fair </a:t>
            </a:r>
            <a:r>
              <a:rPr lang="en-IN" sz="2800" b="1" dirty="0" err="1"/>
              <a:t>comparision</a:t>
            </a:r>
            <a:r>
              <a:rPr lang="en-IN" sz="2800" b="1" dirty="0"/>
              <a:t> between both.                            </a:t>
            </a:r>
            <a:br>
              <a:rPr lang="en-IN" sz="2800" b="1" dirty="0"/>
            </a:br>
            <a:br>
              <a:rPr lang="en-IN" sz="2800" b="1" dirty="0"/>
            </a:br>
            <a:r>
              <a:rPr lang="en-IN" sz="2800" b="1" dirty="0"/>
              <a:t>Before visualize any data from the data set we will do the data cleaning as to fill any null values and delete any duplicated values and after that we have to data wrangling       </a:t>
            </a:r>
            <a:br>
              <a:rPr lang="en-IN" sz="2800" b="1" dirty="0"/>
            </a:br>
            <a:br>
              <a:rPr lang="en-IN" sz="2800" b="1" dirty="0"/>
            </a:br>
            <a:r>
              <a:rPr lang="en-IN" sz="2800" b="1" dirty="0"/>
              <a:t>Also we will do our analysis for both city and resort as individual businesses and in com[</a:t>
            </a:r>
            <a:r>
              <a:rPr lang="en-IN" sz="2800" b="1" dirty="0" err="1"/>
              <a:t>parision</a:t>
            </a:r>
            <a:r>
              <a:rPr lang="en-IN" sz="2800" b="1" dirty="0"/>
              <a:t> to one another .We will also take help of charts for better analysis</a:t>
            </a:r>
            <a:br>
              <a:rPr lang="en-IN" sz="2800" b="1" dirty="0"/>
            </a:b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5152" y="189508"/>
            <a:ext cx="11170023" cy="5078313"/>
          </a:xfrm>
          <a:prstGeom prst="rect">
            <a:avLst/>
          </a:prstGeom>
          <a:noFill/>
        </p:spPr>
        <p:txBody>
          <a:bodyPr wrap="square" rtlCol="0">
            <a:spAutoFit/>
          </a:bodyPr>
          <a:lstStyle/>
          <a:p>
            <a:r>
              <a:rPr lang="en-IN" sz="3600" b="1" u="sng" dirty="0">
                <a:latin typeface="Arial Black" panose="020B0A04020102020204" charset="0"/>
              </a:rPr>
              <a:t> Problem Statement</a:t>
            </a:r>
            <a:r>
              <a:rPr lang="en-IN" sz="3600" b="1" u="sng" dirty="0">
                <a:solidFill>
                  <a:schemeClr val="tx1"/>
                </a:solidFill>
                <a:effectLst>
                  <a:outerShdw blurRad="38100" dist="19050" dir="2700000" algn="tl" rotWithShape="0">
                    <a:schemeClr val="dk1">
                      <a:alpha val="40000"/>
                    </a:schemeClr>
                  </a:outerShdw>
                </a:effectLst>
                <a:latin typeface="Arial Black" panose="020B0A04020102020204" charset="0"/>
              </a:rPr>
              <a:t> </a:t>
            </a:r>
            <a:r>
              <a:rPr lang="en-IN" sz="3600" b="1" dirty="0">
                <a:solidFill>
                  <a:schemeClr val="tx1"/>
                </a:solidFill>
                <a:effectLst>
                  <a:outerShdw blurRad="38100" dist="19050" dir="2700000" algn="tl" rotWithShape="0">
                    <a:schemeClr val="dk1">
                      <a:alpha val="40000"/>
                    </a:schemeClr>
                  </a:outerShdw>
                </a:effectLst>
              </a:rPr>
              <a:t>-  </a:t>
            </a:r>
          </a:p>
          <a:p>
            <a:br>
              <a:rPr lang="en-IN" sz="3600" dirty="0">
                <a:solidFill>
                  <a:schemeClr val="tx1"/>
                </a:solidFill>
                <a:effectLst>
                  <a:outerShdw blurRad="38100" dist="19050" dir="2700000" algn="tl" rotWithShape="0">
                    <a:schemeClr val="dk1">
                      <a:alpha val="40000"/>
                    </a:schemeClr>
                  </a:outerShdw>
                </a:effectLst>
              </a:rPr>
            </a:br>
            <a:r>
              <a:rPr lang="en-IN" sz="2800" b="1" dirty="0">
                <a:effectLst>
                  <a:outerShdw blurRad="38100" dist="19050" dir="2700000" algn="tl" rotWithShape="0">
                    <a:schemeClr val="dk1">
                      <a:alpha val="40000"/>
                    </a:schemeClr>
                  </a:outerShdw>
                </a:effectLst>
              </a:rPr>
              <a:t>This data set contains booking information for a city hotel and a resort </a:t>
            </a:r>
            <a:r>
              <a:rPr lang="en-IN" sz="2800" b="1" dirty="0" err="1">
                <a:effectLst>
                  <a:outerShdw blurRad="38100" dist="19050" dir="2700000" algn="tl" rotWithShape="0">
                    <a:schemeClr val="dk1">
                      <a:alpha val="40000"/>
                    </a:schemeClr>
                  </a:outerShdw>
                </a:effectLst>
              </a:rPr>
              <a:t>hotel,and</a:t>
            </a:r>
            <a:r>
              <a:rPr lang="en-IN" sz="2800" b="1" dirty="0">
                <a:effectLst>
                  <a:outerShdw blurRad="38100" dist="19050" dir="2700000" algn="tl" rotWithShape="0">
                    <a:schemeClr val="dk1">
                      <a:alpha val="40000"/>
                    </a:schemeClr>
                  </a:outerShdw>
                </a:effectLst>
              </a:rPr>
              <a:t> includes information such as when the booking was </a:t>
            </a:r>
            <a:r>
              <a:rPr lang="en-IN" sz="2800" b="1" dirty="0" err="1">
                <a:effectLst>
                  <a:outerShdw blurRad="38100" dist="19050" dir="2700000" algn="tl" rotWithShape="0">
                    <a:schemeClr val="dk1">
                      <a:alpha val="40000"/>
                    </a:schemeClr>
                  </a:outerShdw>
                </a:effectLst>
              </a:rPr>
              <a:t>made,the</a:t>
            </a:r>
            <a:r>
              <a:rPr lang="en-IN" sz="2800" b="1" dirty="0">
                <a:effectLst>
                  <a:outerShdw blurRad="38100" dist="19050" dir="2700000" algn="tl" rotWithShape="0">
                    <a:schemeClr val="dk1">
                      <a:alpha val="40000"/>
                    </a:schemeClr>
                  </a:outerShdw>
                </a:effectLst>
              </a:rPr>
              <a:t> number of </a:t>
            </a:r>
            <a:r>
              <a:rPr lang="en-IN" sz="2800" b="1" dirty="0" err="1">
                <a:effectLst>
                  <a:outerShdw blurRad="38100" dist="19050" dir="2700000" algn="tl" rotWithShape="0">
                    <a:schemeClr val="dk1">
                      <a:alpha val="40000"/>
                    </a:schemeClr>
                  </a:outerShdw>
                </a:effectLst>
              </a:rPr>
              <a:t>adults,children,and</a:t>
            </a:r>
            <a:r>
              <a:rPr lang="en-IN" sz="2800" b="1" dirty="0">
                <a:effectLst>
                  <a:outerShdw blurRad="38100" dist="19050" dir="2700000" algn="tl" rotWithShape="0">
                    <a:schemeClr val="dk1">
                      <a:alpha val="40000"/>
                    </a:schemeClr>
                  </a:outerShdw>
                </a:effectLst>
              </a:rPr>
              <a:t> /or </a:t>
            </a:r>
            <a:r>
              <a:rPr lang="en-IN" sz="2800" b="1" dirty="0" err="1">
                <a:effectLst>
                  <a:outerShdw blurRad="38100" dist="19050" dir="2700000" algn="tl" rotWithShape="0">
                    <a:schemeClr val="dk1">
                      <a:alpha val="40000"/>
                    </a:schemeClr>
                  </a:outerShdw>
                </a:effectLst>
              </a:rPr>
              <a:t>babies,and</a:t>
            </a:r>
            <a:r>
              <a:rPr lang="en-IN" sz="2800" b="1" dirty="0">
                <a:effectLst>
                  <a:outerShdw blurRad="38100" dist="19050" dir="2700000" algn="tl" rotWithShape="0">
                    <a:schemeClr val="dk1">
                      <a:alpha val="40000"/>
                    </a:schemeClr>
                  </a:outerShdw>
                </a:effectLst>
              </a:rPr>
              <a:t> the number of available parking spaces ,which agent made the booking ,among other things               </a:t>
            </a:r>
            <a:br>
              <a:rPr lang="en-IN" sz="2800" b="1" dirty="0">
                <a:effectLst>
                  <a:outerShdw blurRad="38100" dist="19050" dir="2700000" algn="tl" rotWithShape="0">
                    <a:schemeClr val="dk1">
                      <a:alpha val="40000"/>
                    </a:schemeClr>
                  </a:outerShdw>
                </a:effectLst>
              </a:rPr>
            </a:br>
            <a:br>
              <a:rPr lang="en-IN" sz="2800" b="1" dirty="0">
                <a:effectLst>
                  <a:outerShdw blurRad="38100" dist="19050" dir="2700000" algn="tl" rotWithShape="0">
                    <a:schemeClr val="dk1">
                      <a:alpha val="40000"/>
                    </a:schemeClr>
                  </a:outerShdw>
                </a:effectLst>
              </a:rPr>
            </a:br>
            <a:r>
              <a:rPr lang="en-IN" sz="2800" b="1" dirty="0">
                <a:effectLst>
                  <a:outerShdw blurRad="38100" dist="19050" dir="2700000" algn="tl" rotWithShape="0">
                    <a:schemeClr val="dk1">
                      <a:alpha val="40000"/>
                    </a:schemeClr>
                  </a:outerShdw>
                </a:effectLst>
              </a:rPr>
              <a:t>The objective of this project is explore and </a:t>
            </a:r>
            <a:r>
              <a:rPr lang="en-IN" sz="2800" b="1" dirty="0" err="1">
                <a:effectLst>
                  <a:outerShdw blurRad="38100" dist="19050" dir="2700000" algn="tl" rotWithShape="0">
                    <a:schemeClr val="dk1">
                      <a:alpha val="40000"/>
                    </a:schemeClr>
                  </a:outerShdw>
                </a:effectLst>
              </a:rPr>
              <a:t>analyze</a:t>
            </a:r>
            <a:r>
              <a:rPr lang="en-IN" sz="2800" b="1" dirty="0">
                <a:effectLst>
                  <a:outerShdw blurRad="38100" dist="19050" dir="2700000" algn="tl" rotWithShape="0">
                    <a:schemeClr val="dk1">
                      <a:alpha val="40000"/>
                    </a:schemeClr>
                  </a:outerShdw>
                </a:effectLst>
              </a:rPr>
              <a:t> data to discover important factors that govern the bookings.   </a:t>
            </a:r>
            <a:br>
              <a:rPr lang="en-IN" sz="2800" b="1" dirty="0">
                <a:effectLst>
                  <a:outerShdw blurRad="38100" dist="19050" dir="2700000" algn="tl" rotWithShape="0">
                    <a:schemeClr val="dk1">
                      <a:alpha val="40000"/>
                    </a:schemeClr>
                  </a:outerShdw>
                </a:effectLst>
              </a:rPr>
            </a:br>
            <a:br>
              <a:rPr lang="en-IN" sz="2800" b="1" dirty="0">
                <a:effectLst>
                  <a:outerShdw blurRad="38100" dist="19050" dir="2700000" algn="tl" rotWithShape="0">
                    <a:schemeClr val="dk1">
                      <a:alpha val="40000"/>
                    </a:schemeClr>
                  </a:outerShdw>
                </a:effectLst>
              </a:rPr>
            </a:br>
            <a:endParaRPr lang="en-IN" sz="2800" dirty="0"/>
          </a:p>
        </p:txBody>
      </p:sp>
      <p:sp>
        <p:nvSpPr>
          <p:cNvPr id="3" name="Oval 2"/>
          <p:cNvSpPr/>
          <p:nvPr/>
        </p:nvSpPr>
        <p:spPr>
          <a:xfrm>
            <a:off x="179292" y="367553"/>
            <a:ext cx="134472" cy="1434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4118" y="322730"/>
            <a:ext cx="8839200" cy="1200329"/>
          </a:xfrm>
          <a:prstGeom prst="rect">
            <a:avLst/>
          </a:prstGeom>
          <a:noFill/>
        </p:spPr>
        <p:txBody>
          <a:bodyPr wrap="square" rtlCol="0">
            <a:spAutoFit/>
          </a:bodyPr>
          <a:lstStyle/>
          <a:p>
            <a:r>
              <a:rPr lang="en-IN" sz="3600" b="1" dirty="0">
                <a:effectLst>
                  <a:outerShdw blurRad="38100" dist="19050" dir="2700000" algn="tl" rotWithShape="0">
                    <a:schemeClr val="dk1">
                      <a:alpha val="40000"/>
                    </a:schemeClr>
                  </a:outerShdw>
                </a:effectLst>
                <a:latin typeface="Arial Black" panose="020B0A04020102020204" charset="0"/>
              </a:rPr>
              <a:t> </a:t>
            </a:r>
            <a:r>
              <a:rPr lang="en-IN" sz="3600" b="1" u="sng" dirty="0">
                <a:effectLst>
                  <a:outerShdw blurRad="38100" dist="19050" dir="2700000" algn="tl" rotWithShape="0">
                    <a:schemeClr val="dk1">
                      <a:alpha val="40000"/>
                    </a:schemeClr>
                  </a:outerShdw>
                </a:effectLst>
                <a:latin typeface="Arial Black" panose="020B0A04020102020204" charset="0"/>
              </a:rPr>
              <a:t>Define Your Business Objective</a:t>
            </a:r>
            <a:r>
              <a:rPr lang="en-IN" sz="3600" b="1" dirty="0">
                <a:effectLst>
                  <a:outerShdw blurRad="38100" dist="19050" dir="2700000" algn="tl" rotWithShape="0">
                    <a:schemeClr val="dk1">
                      <a:alpha val="40000"/>
                    </a:schemeClr>
                  </a:outerShdw>
                </a:effectLst>
                <a:latin typeface="Arial Black" panose="020B0A04020102020204" charset="0"/>
              </a:rPr>
              <a:t>?</a:t>
            </a:r>
            <a:br>
              <a:rPr lang="en-IN" sz="3600" b="1" dirty="0">
                <a:effectLst>
                  <a:outerShdw blurRad="38100" dist="19050" dir="2700000" algn="tl" rotWithShape="0">
                    <a:schemeClr val="dk1">
                      <a:alpha val="40000"/>
                    </a:schemeClr>
                  </a:outerShdw>
                </a:effectLst>
                <a:latin typeface="Arial Black" panose="020B0A04020102020204" charset="0"/>
              </a:rPr>
            </a:br>
            <a:endParaRPr lang="en-IN" sz="3600" dirty="0">
              <a:latin typeface="Arial Black" panose="020B0A04020102020204" charset="0"/>
            </a:endParaRPr>
          </a:p>
        </p:txBody>
      </p:sp>
      <p:sp>
        <p:nvSpPr>
          <p:cNvPr id="3" name="TextBox 2"/>
          <p:cNvSpPr txBox="1"/>
          <p:nvPr/>
        </p:nvSpPr>
        <p:spPr>
          <a:xfrm>
            <a:off x="340660" y="1558918"/>
            <a:ext cx="9117106" cy="2308324"/>
          </a:xfrm>
          <a:prstGeom prst="rect">
            <a:avLst/>
          </a:prstGeom>
          <a:noFill/>
        </p:spPr>
        <p:txBody>
          <a:bodyPr wrap="square" rtlCol="0">
            <a:spAutoFit/>
          </a:bodyPr>
          <a:lstStyle/>
          <a:p>
            <a:r>
              <a:rPr lang="en-US" sz="3600" b="1" dirty="0"/>
              <a:t>Analyze and visualize the data on bookings of city Hotel and Resort Hotel to gain insights on the different factors that effects the booking and ADR .</a:t>
            </a:r>
            <a:endParaRPr lang="en-IN" sz="3600" b="1" dirty="0"/>
          </a:p>
        </p:txBody>
      </p:sp>
      <p:sp>
        <p:nvSpPr>
          <p:cNvPr id="4" name="Oval 3"/>
          <p:cNvSpPr/>
          <p:nvPr/>
        </p:nvSpPr>
        <p:spPr>
          <a:xfrm>
            <a:off x="138955" y="502024"/>
            <a:ext cx="201705" cy="22411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flipH="1">
            <a:off x="313764" y="51100"/>
            <a:ext cx="4491317" cy="584775"/>
          </a:xfrm>
          <a:prstGeom prst="rect">
            <a:avLst/>
          </a:prstGeom>
          <a:noFill/>
        </p:spPr>
        <p:txBody>
          <a:bodyPr wrap="square" rtlCol="0">
            <a:spAutoFit/>
          </a:bodyPr>
          <a:lstStyle/>
          <a:p>
            <a:r>
              <a:rPr lang="en-IN" sz="3200" b="1" u="sng" dirty="0">
                <a:latin typeface="Arial Black" panose="020B0A04020102020204" charset="0"/>
              </a:rPr>
              <a:t>Data Explore -</a:t>
            </a:r>
          </a:p>
        </p:txBody>
      </p:sp>
      <p:sp>
        <p:nvSpPr>
          <p:cNvPr id="3" name="Oval 2"/>
          <p:cNvSpPr/>
          <p:nvPr/>
        </p:nvSpPr>
        <p:spPr>
          <a:xfrm>
            <a:off x="174811" y="273183"/>
            <a:ext cx="138953" cy="1571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
        <p:nvSpPr>
          <p:cNvPr id="4" name="TextBox 3"/>
          <p:cNvSpPr txBox="1"/>
          <p:nvPr/>
        </p:nvSpPr>
        <p:spPr>
          <a:xfrm>
            <a:off x="421341" y="844422"/>
            <a:ext cx="11770659" cy="6093976"/>
          </a:xfrm>
          <a:prstGeom prst="rect">
            <a:avLst/>
          </a:prstGeom>
          <a:noFill/>
        </p:spPr>
        <p:txBody>
          <a:bodyPr wrap="square" rtlCol="0">
            <a:spAutoFit/>
          </a:bodyPr>
          <a:lstStyle/>
          <a:p>
            <a:r>
              <a:rPr lang="en-US" sz="2400" b="1" dirty="0"/>
              <a:t>SR        Action                          Effected                        Rows                Columns  </a:t>
            </a:r>
          </a:p>
          <a:p>
            <a:r>
              <a:rPr lang="en-US" sz="2400" b="1" dirty="0"/>
              <a:t>                                                 (Records)</a:t>
            </a:r>
          </a:p>
          <a:p>
            <a:r>
              <a:rPr lang="en-US" b="1" dirty="0"/>
              <a:t>   </a:t>
            </a:r>
          </a:p>
          <a:p>
            <a:r>
              <a:rPr lang="en-US" b="1" dirty="0"/>
              <a:t>1.            Remove Errors                        4 Rows removed                      119386                    32(No change)</a:t>
            </a:r>
          </a:p>
          <a:p>
            <a:endParaRPr lang="en-US" b="1" dirty="0"/>
          </a:p>
          <a:p>
            <a:endParaRPr lang="en-US" b="1" dirty="0"/>
          </a:p>
          <a:p>
            <a:r>
              <a:rPr lang="en-US" b="1" dirty="0"/>
              <a:t>2.           Remove Blank                         0 rows removed                        119386                   32(no change)</a:t>
            </a:r>
          </a:p>
          <a:p>
            <a:r>
              <a:rPr lang="en-US" b="1" dirty="0"/>
              <a:t>              Records</a:t>
            </a:r>
          </a:p>
          <a:p>
            <a:endParaRPr lang="en-US" b="1" dirty="0"/>
          </a:p>
          <a:p>
            <a:endParaRPr lang="en-US" b="1" dirty="0"/>
          </a:p>
          <a:p>
            <a:r>
              <a:rPr lang="en-US" b="1" dirty="0"/>
              <a:t>3.          remove Duplicate                    31994 Records                             87392                  32(No Change)</a:t>
            </a:r>
          </a:p>
          <a:p>
            <a:endParaRPr lang="en-US" b="1" dirty="0"/>
          </a:p>
          <a:p>
            <a:endParaRPr lang="en-US" b="1" dirty="0"/>
          </a:p>
          <a:p>
            <a:endParaRPr lang="en-US" b="1" dirty="0"/>
          </a:p>
          <a:p>
            <a:r>
              <a:rPr lang="en-US" b="1" dirty="0"/>
              <a:t>4.           Find Null Records                   1-Country(452)                             87392                  32(No change)</a:t>
            </a:r>
          </a:p>
          <a:p>
            <a:r>
              <a:rPr lang="en-US" b="1" dirty="0"/>
              <a:t>                                                                 2-Agent(12191-31%)</a:t>
            </a:r>
          </a:p>
          <a:p>
            <a:r>
              <a:rPr lang="en-US" b="1" dirty="0"/>
              <a:t>                                                                 3-company(94%)</a:t>
            </a:r>
          </a:p>
          <a:p>
            <a:endParaRPr lang="en-US" b="1" dirty="0"/>
          </a:p>
          <a:p>
            <a:endParaRPr lang="en-US" b="1" dirty="0"/>
          </a:p>
          <a:p>
            <a:r>
              <a:rPr lang="en-US" b="1" dirty="0"/>
              <a:t>6.          Add Primary Key                     1 column Added                           87392                     33</a:t>
            </a:r>
          </a:p>
          <a:p>
            <a:r>
              <a:rPr lang="en-US" b="1" dirty="0"/>
              <a:t>              Booking Id(column)</a:t>
            </a:r>
            <a:endParaRPr lang="en-IN" b="1" dirty="0"/>
          </a:p>
        </p:txBody>
      </p:sp>
      <p:sp>
        <p:nvSpPr>
          <p:cNvPr id="5" name="TextBox 4"/>
          <p:cNvSpPr txBox="1"/>
          <p:nvPr/>
        </p:nvSpPr>
        <p:spPr>
          <a:xfrm>
            <a:off x="6732494" y="143433"/>
            <a:ext cx="4849906" cy="400110"/>
          </a:xfrm>
          <a:prstGeom prst="rect">
            <a:avLst/>
          </a:prstGeom>
          <a:noFill/>
        </p:spPr>
        <p:txBody>
          <a:bodyPr wrap="square" rtlCol="0">
            <a:spAutoFit/>
          </a:bodyPr>
          <a:lstStyle/>
          <a:p>
            <a:r>
              <a:rPr lang="en-IN" sz="2000" b="1" dirty="0"/>
              <a:t>Total Rows = 119390   Total Columns = 32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6517" y="76199"/>
            <a:ext cx="5719483" cy="523220"/>
          </a:xfrm>
          <a:prstGeom prst="rect">
            <a:avLst/>
          </a:prstGeom>
          <a:noFill/>
        </p:spPr>
        <p:txBody>
          <a:bodyPr wrap="square" rtlCol="0">
            <a:spAutoFit/>
          </a:bodyPr>
          <a:lstStyle/>
          <a:p>
            <a:r>
              <a:rPr lang="en-IN" sz="2800" u="sng" dirty="0">
                <a:latin typeface="Arial Black" panose="020B0A04020102020204" charset="0"/>
                <a:cs typeface="Arial" panose="020B0604020202020204" pitchFamily="34" charset="0"/>
              </a:rPr>
              <a:t>KYV – Know  Your Variable :</a:t>
            </a:r>
          </a:p>
        </p:txBody>
      </p:sp>
      <p:sp>
        <p:nvSpPr>
          <p:cNvPr id="5" name="TextBox 4"/>
          <p:cNvSpPr txBox="1"/>
          <p:nvPr/>
        </p:nvSpPr>
        <p:spPr>
          <a:xfrm>
            <a:off x="376517" y="869575"/>
            <a:ext cx="10766611" cy="5909310"/>
          </a:xfrm>
          <a:prstGeom prst="rect">
            <a:avLst/>
          </a:prstGeom>
          <a:noFill/>
        </p:spPr>
        <p:txBody>
          <a:bodyPr wrap="square" rtlCol="0">
            <a:spAutoFit/>
          </a:bodyPr>
          <a:lstStyle/>
          <a:p>
            <a:r>
              <a:rPr lang="en-IN" dirty="0">
                <a:latin typeface="Arial Black" panose="020B0A04020102020204" charset="0"/>
              </a:rPr>
              <a:t>1)Hotel Type    :  Hotel Type (City &amp; Resort) </a:t>
            </a:r>
          </a:p>
          <a:p>
            <a:endParaRPr lang="en-IN" dirty="0">
              <a:latin typeface="Arial Black" panose="020B0A04020102020204" charset="0"/>
            </a:endParaRPr>
          </a:p>
          <a:p>
            <a:r>
              <a:rPr lang="en-IN" dirty="0">
                <a:latin typeface="Arial Black" panose="020B0A04020102020204" charset="0"/>
              </a:rPr>
              <a:t>2)Booking Id    : Unique Booking Id for Each Booking(PK) </a:t>
            </a:r>
          </a:p>
          <a:p>
            <a:endParaRPr lang="en-IN" dirty="0">
              <a:latin typeface="Arial Black" panose="020B0A04020102020204" charset="0"/>
            </a:endParaRPr>
          </a:p>
          <a:p>
            <a:r>
              <a:rPr lang="en-IN" dirty="0">
                <a:latin typeface="Arial Black" panose="020B0A04020102020204" charset="0"/>
              </a:rPr>
              <a:t>3)</a:t>
            </a:r>
            <a:r>
              <a:rPr lang="en-IN" dirty="0" err="1">
                <a:latin typeface="Arial Black" panose="020B0A04020102020204" charset="0"/>
              </a:rPr>
              <a:t>Is_cancelled</a:t>
            </a:r>
            <a:r>
              <a:rPr lang="en-IN" dirty="0">
                <a:latin typeface="Arial Black" panose="020B0A04020102020204" charset="0"/>
              </a:rPr>
              <a:t> : After  Booking Any Cancellation</a:t>
            </a:r>
          </a:p>
          <a:p>
            <a:endParaRPr lang="en-IN" dirty="0">
              <a:latin typeface="Arial Black" panose="020B0A04020102020204" charset="0"/>
            </a:endParaRPr>
          </a:p>
          <a:p>
            <a:r>
              <a:rPr lang="en-IN" dirty="0">
                <a:latin typeface="Arial Black" panose="020B0A04020102020204" charset="0"/>
              </a:rPr>
              <a:t>4)</a:t>
            </a:r>
            <a:r>
              <a:rPr lang="en-IN" dirty="0" err="1">
                <a:latin typeface="Arial Black" panose="020B0A04020102020204" charset="0"/>
              </a:rPr>
              <a:t>lead_time</a:t>
            </a:r>
            <a:r>
              <a:rPr lang="en-IN" dirty="0">
                <a:latin typeface="Arial Black" panose="020B0A04020102020204" charset="0"/>
              </a:rPr>
              <a:t>      : Hrs Before Booking</a:t>
            </a:r>
          </a:p>
          <a:p>
            <a:endParaRPr lang="en-IN" dirty="0">
              <a:latin typeface="Arial Black" panose="020B0A04020102020204" charset="0"/>
            </a:endParaRPr>
          </a:p>
          <a:p>
            <a:r>
              <a:rPr lang="en-IN" dirty="0">
                <a:latin typeface="Arial Black" panose="020B0A04020102020204" charset="0"/>
              </a:rPr>
              <a:t>5)Arrival Date  : Arrival Date of Customers</a:t>
            </a:r>
          </a:p>
          <a:p>
            <a:endParaRPr lang="en-IN" dirty="0">
              <a:latin typeface="Arial Black" panose="020B0A04020102020204" charset="0"/>
            </a:endParaRPr>
          </a:p>
          <a:p>
            <a:r>
              <a:rPr lang="en-IN" dirty="0">
                <a:latin typeface="Arial Black" panose="020B0A04020102020204" charset="0"/>
              </a:rPr>
              <a:t>6)</a:t>
            </a:r>
            <a:r>
              <a:rPr lang="en-IN" dirty="0" err="1">
                <a:latin typeface="Arial Black" panose="020B0A04020102020204" charset="0"/>
              </a:rPr>
              <a:t>Stay’s_Weeknights</a:t>
            </a:r>
            <a:r>
              <a:rPr lang="en-IN" dirty="0">
                <a:latin typeface="Arial Black" panose="020B0A04020102020204" charset="0"/>
              </a:rPr>
              <a:t> : Stay of weeknights</a:t>
            </a:r>
          </a:p>
          <a:p>
            <a:endParaRPr lang="en-IN" dirty="0">
              <a:latin typeface="Arial Black" panose="020B0A04020102020204" charset="0"/>
            </a:endParaRPr>
          </a:p>
          <a:p>
            <a:r>
              <a:rPr lang="en-IN" dirty="0">
                <a:latin typeface="Arial Black" panose="020B0A04020102020204" charset="0"/>
              </a:rPr>
              <a:t>7)Stay’s </a:t>
            </a:r>
            <a:r>
              <a:rPr lang="en-IN" dirty="0" err="1">
                <a:latin typeface="Arial Black" panose="020B0A04020102020204" charset="0"/>
              </a:rPr>
              <a:t>WeekendNights</a:t>
            </a:r>
            <a:r>
              <a:rPr lang="en-IN" dirty="0">
                <a:latin typeface="Arial Black" panose="020B0A04020102020204" charset="0"/>
              </a:rPr>
              <a:t> : </a:t>
            </a:r>
            <a:r>
              <a:rPr lang="en-IN" dirty="0" err="1">
                <a:latin typeface="Arial Black" panose="020B0A04020102020204" charset="0"/>
              </a:rPr>
              <a:t>Stays’s</a:t>
            </a:r>
            <a:r>
              <a:rPr lang="en-IN" dirty="0">
                <a:latin typeface="Arial Black" panose="020B0A04020102020204" charset="0"/>
              </a:rPr>
              <a:t> of Weekend Nights</a:t>
            </a:r>
          </a:p>
          <a:p>
            <a:endParaRPr lang="en-IN" dirty="0">
              <a:latin typeface="Arial Black" panose="020B0A04020102020204" charset="0"/>
            </a:endParaRPr>
          </a:p>
          <a:p>
            <a:r>
              <a:rPr lang="en-IN" dirty="0">
                <a:latin typeface="Arial Black" panose="020B0A04020102020204" charset="0"/>
              </a:rPr>
              <a:t>8)Total Stay : It add total Stay in Weeknights and total Stay in </a:t>
            </a:r>
            <a:r>
              <a:rPr lang="en-IN" dirty="0" err="1">
                <a:latin typeface="Arial Black" panose="020B0A04020102020204" charset="0"/>
              </a:rPr>
              <a:t>Week_end_nights</a:t>
            </a:r>
            <a:endParaRPr lang="en-IN" dirty="0">
              <a:latin typeface="Arial Black" panose="020B0A04020102020204" charset="0"/>
            </a:endParaRPr>
          </a:p>
          <a:p>
            <a:endParaRPr lang="en-IN" dirty="0">
              <a:latin typeface="Arial Black" panose="020B0A04020102020204" charset="0"/>
            </a:endParaRPr>
          </a:p>
          <a:p>
            <a:r>
              <a:rPr lang="en-IN" dirty="0">
                <a:latin typeface="Arial Black" panose="020B0A04020102020204" charset="0"/>
              </a:rPr>
              <a:t>9)Adults : Adults in per Bookings</a:t>
            </a:r>
          </a:p>
          <a:p>
            <a:endParaRPr lang="en-IN" dirty="0">
              <a:latin typeface="Arial Black" panose="020B0A04020102020204" charset="0"/>
            </a:endParaRPr>
          </a:p>
          <a:p>
            <a:r>
              <a:rPr lang="en-IN" dirty="0">
                <a:latin typeface="Arial Black" panose="020B0A04020102020204" charset="0"/>
              </a:rPr>
              <a:t>10)</a:t>
            </a:r>
            <a:r>
              <a:rPr lang="en-IN" dirty="0" err="1">
                <a:latin typeface="Arial Black" panose="020B0A04020102020204" charset="0"/>
              </a:rPr>
              <a:t>Childerens</a:t>
            </a:r>
            <a:r>
              <a:rPr lang="en-IN" dirty="0">
                <a:latin typeface="Arial Black" panose="020B0A04020102020204" charset="0"/>
              </a:rPr>
              <a:t> : </a:t>
            </a:r>
            <a:r>
              <a:rPr lang="en-IN" dirty="0" err="1">
                <a:latin typeface="Arial Black" panose="020B0A04020102020204" charset="0"/>
              </a:rPr>
              <a:t>Childrens</a:t>
            </a:r>
            <a:r>
              <a:rPr lang="en-IN" dirty="0">
                <a:latin typeface="Arial Black" panose="020B0A04020102020204" charset="0"/>
              </a:rPr>
              <a:t> in per Booking .</a:t>
            </a:r>
          </a:p>
          <a:p>
            <a:endParaRPr lang="en-IN" dirty="0">
              <a:latin typeface="Arial Black" panose="020B0A04020102020204" charset="0"/>
            </a:endParaRPr>
          </a:p>
          <a:p>
            <a:r>
              <a:rPr lang="en-IN" dirty="0">
                <a:latin typeface="Arial Black" panose="020B0A04020102020204" charset="0"/>
              </a:rPr>
              <a:t>11)Babies : Babies in per Booking.                </a:t>
            </a:r>
          </a:p>
        </p:txBody>
      </p:sp>
      <p:sp>
        <p:nvSpPr>
          <p:cNvPr id="4" name="Oval 3"/>
          <p:cNvSpPr/>
          <p:nvPr/>
        </p:nvSpPr>
        <p:spPr>
          <a:xfrm>
            <a:off x="237564" y="259248"/>
            <a:ext cx="138953" cy="15712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flipH="1">
            <a:off x="81574" y="71718"/>
            <a:ext cx="11088449" cy="7294305"/>
          </a:xfrm>
          <a:prstGeom prst="rect">
            <a:avLst/>
          </a:prstGeom>
          <a:noFill/>
        </p:spPr>
        <p:txBody>
          <a:bodyPr wrap="square" rtlCol="0">
            <a:spAutoFit/>
          </a:bodyPr>
          <a:lstStyle/>
          <a:p>
            <a:r>
              <a:rPr lang="en-IN" dirty="0">
                <a:latin typeface="Arial Black" panose="020B0A04020102020204" charset="0"/>
              </a:rPr>
              <a:t>12</a:t>
            </a:r>
            <a:r>
              <a:rPr lang="en-IN" dirty="0"/>
              <a:t>)</a:t>
            </a:r>
            <a:r>
              <a:rPr lang="en-IN" dirty="0">
                <a:latin typeface="Arial Black" panose="020B0A04020102020204" charset="0"/>
              </a:rPr>
              <a:t>Total Customers : Adults + </a:t>
            </a:r>
            <a:r>
              <a:rPr lang="en-IN" dirty="0" err="1">
                <a:latin typeface="Arial Black" panose="020B0A04020102020204" charset="0"/>
              </a:rPr>
              <a:t>Childrens</a:t>
            </a:r>
            <a:r>
              <a:rPr lang="en-IN" dirty="0">
                <a:latin typeface="Arial Black" panose="020B0A04020102020204" charset="0"/>
              </a:rPr>
              <a:t> + Babies </a:t>
            </a:r>
          </a:p>
          <a:p>
            <a:endParaRPr lang="en-IN" dirty="0">
              <a:latin typeface="Arial Black" panose="020B0A04020102020204" charset="0"/>
            </a:endParaRPr>
          </a:p>
          <a:p>
            <a:r>
              <a:rPr lang="en-IN" dirty="0">
                <a:latin typeface="Arial Black" panose="020B0A04020102020204" charset="0"/>
              </a:rPr>
              <a:t>13) Meal  : Assigned Meal with Booking .</a:t>
            </a:r>
          </a:p>
          <a:p>
            <a:endParaRPr lang="en-IN" dirty="0">
              <a:latin typeface="Arial Black" panose="020B0A04020102020204" charset="0"/>
            </a:endParaRPr>
          </a:p>
          <a:p>
            <a:r>
              <a:rPr lang="en-IN" dirty="0">
                <a:latin typeface="Arial Black" panose="020B0A04020102020204" charset="0"/>
              </a:rPr>
              <a:t>14) Country : Booking Country.</a:t>
            </a:r>
          </a:p>
          <a:p>
            <a:endParaRPr lang="en-IN" dirty="0">
              <a:latin typeface="Arial Black" panose="020B0A04020102020204" charset="0"/>
            </a:endParaRPr>
          </a:p>
          <a:p>
            <a:r>
              <a:rPr lang="en-IN" dirty="0">
                <a:latin typeface="Arial Black" panose="020B0A04020102020204" charset="0"/>
              </a:rPr>
              <a:t>15) Market Segment : Market Segment Type .</a:t>
            </a:r>
          </a:p>
          <a:p>
            <a:endParaRPr lang="en-IN" dirty="0">
              <a:latin typeface="Arial Black" panose="020B0A04020102020204" charset="0"/>
            </a:endParaRPr>
          </a:p>
          <a:p>
            <a:r>
              <a:rPr lang="en-IN" dirty="0">
                <a:latin typeface="Arial Black" panose="020B0A04020102020204" charset="0"/>
              </a:rPr>
              <a:t>16)Distribution Channel : Distribution Channel Type .</a:t>
            </a:r>
          </a:p>
          <a:p>
            <a:endParaRPr lang="en-IN" dirty="0">
              <a:latin typeface="Arial Black" panose="020B0A04020102020204" charset="0"/>
            </a:endParaRPr>
          </a:p>
          <a:p>
            <a:r>
              <a:rPr lang="en-IN" dirty="0">
                <a:latin typeface="Arial Black" panose="020B0A04020102020204" charset="0"/>
              </a:rPr>
              <a:t>17)</a:t>
            </a:r>
            <a:r>
              <a:rPr lang="en-IN" dirty="0" err="1">
                <a:latin typeface="Arial Black" panose="020B0A04020102020204" charset="0"/>
              </a:rPr>
              <a:t>Is_Repeated_Guest</a:t>
            </a:r>
            <a:r>
              <a:rPr lang="en-IN" dirty="0">
                <a:latin typeface="Arial Black" panose="020B0A04020102020204" charset="0"/>
              </a:rPr>
              <a:t> : Shows Repeated Bookings (yes 1  no=0) .</a:t>
            </a:r>
          </a:p>
          <a:p>
            <a:endParaRPr lang="en-IN" dirty="0">
              <a:latin typeface="Arial Black" panose="020B0A04020102020204" charset="0"/>
            </a:endParaRPr>
          </a:p>
          <a:p>
            <a:r>
              <a:rPr lang="en-IN" dirty="0">
                <a:latin typeface="Arial Black" panose="020B0A04020102020204" charset="0"/>
              </a:rPr>
              <a:t>18)</a:t>
            </a:r>
            <a:r>
              <a:rPr lang="en-IN" dirty="0" err="1">
                <a:latin typeface="Arial Black" panose="020B0A04020102020204" charset="0"/>
              </a:rPr>
              <a:t>Previous_Cancellation</a:t>
            </a:r>
            <a:r>
              <a:rPr lang="en-IN" dirty="0">
                <a:latin typeface="Arial Black" panose="020B0A04020102020204" charset="0"/>
              </a:rPr>
              <a:t> : Shows </a:t>
            </a:r>
            <a:r>
              <a:rPr lang="en-IN" dirty="0" err="1">
                <a:latin typeface="Arial Black" panose="020B0A04020102020204" charset="0"/>
              </a:rPr>
              <a:t>Prev</a:t>
            </a:r>
            <a:r>
              <a:rPr lang="en-IN" dirty="0">
                <a:latin typeface="Arial Black" panose="020B0A04020102020204" charset="0"/>
              </a:rPr>
              <a:t> cancellation (yes =1,no=0) .</a:t>
            </a:r>
          </a:p>
          <a:p>
            <a:endParaRPr lang="en-IN" dirty="0">
              <a:latin typeface="Arial Black" panose="020B0A04020102020204" charset="0"/>
            </a:endParaRPr>
          </a:p>
          <a:p>
            <a:r>
              <a:rPr lang="en-IN" dirty="0">
                <a:latin typeface="Arial Black" panose="020B0A04020102020204" charset="0"/>
              </a:rPr>
              <a:t>19)Previous Booking not Cancelled : Shows Customer Cancelled booking </a:t>
            </a:r>
            <a:r>
              <a:rPr lang="en-IN" dirty="0" err="1">
                <a:latin typeface="Arial Black" panose="020B0A04020102020204" charset="0"/>
              </a:rPr>
              <a:t>prev</a:t>
            </a:r>
            <a:r>
              <a:rPr lang="en-IN" dirty="0">
                <a:latin typeface="Arial Black" panose="020B0A04020102020204" charset="0"/>
              </a:rPr>
              <a:t> or not .</a:t>
            </a:r>
          </a:p>
          <a:p>
            <a:endParaRPr lang="en-IN" dirty="0">
              <a:latin typeface="Arial Black" panose="020B0A04020102020204" charset="0"/>
            </a:endParaRPr>
          </a:p>
          <a:p>
            <a:r>
              <a:rPr lang="en-IN" dirty="0">
                <a:latin typeface="Arial Black" panose="020B0A04020102020204" charset="0"/>
              </a:rPr>
              <a:t>20)</a:t>
            </a:r>
            <a:r>
              <a:rPr lang="en-IN" dirty="0" err="1">
                <a:latin typeface="Arial Black" panose="020B0A04020102020204" charset="0"/>
              </a:rPr>
              <a:t>Reserved_Room</a:t>
            </a:r>
            <a:r>
              <a:rPr lang="en-IN" dirty="0">
                <a:latin typeface="Arial Black" panose="020B0A04020102020204" charset="0"/>
              </a:rPr>
              <a:t> Type : Shows reserved room type for customer.</a:t>
            </a:r>
          </a:p>
          <a:p>
            <a:endParaRPr lang="en-IN" dirty="0">
              <a:latin typeface="Arial Black" panose="020B0A04020102020204" charset="0"/>
            </a:endParaRPr>
          </a:p>
          <a:p>
            <a:r>
              <a:rPr lang="en-IN" dirty="0">
                <a:latin typeface="Arial Black" panose="020B0A04020102020204" charset="0"/>
              </a:rPr>
              <a:t>21) Assigned Room Type : Shows Which Room Type is Assigned to Customer .</a:t>
            </a:r>
          </a:p>
          <a:p>
            <a:endParaRPr lang="en-IN" dirty="0">
              <a:latin typeface="Arial Black" panose="020B0A04020102020204" charset="0"/>
            </a:endParaRPr>
          </a:p>
          <a:p>
            <a:r>
              <a:rPr lang="en-IN" dirty="0">
                <a:latin typeface="Arial Black" panose="020B0A04020102020204" charset="0"/>
              </a:rPr>
              <a:t>22)Booking changes : Shows Booking changes .</a:t>
            </a:r>
          </a:p>
          <a:p>
            <a:endParaRPr lang="en-IN" dirty="0">
              <a:latin typeface="Arial Black" panose="020B0A04020102020204" charset="0"/>
            </a:endParaRPr>
          </a:p>
          <a:p>
            <a:r>
              <a:rPr lang="en-IN" dirty="0">
                <a:latin typeface="Arial Black" panose="020B0A04020102020204" charset="0"/>
              </a:rPr>
              <a:t>23)</a:t>
            </a:r>
            <a:r>
              <a:rPr lang="en-IN" dirty="0" err="1">
                <a:latin typeface="Arial Black" panose="020B0A04020102020204" charset="0"/>
              </a:rPr>
              <a:t>Deposite_Type</a:t>
            </a:r>
            <a:r>
              <a:rPr lang="en-IN" dirty="0">
                <a:latin typeface="Arial Black" panose="020B0A04020102020204" charset="0"/>
              </a:rPr>
              <a:t> : Shows The </a:t>
            </a:r>
            <a:r>
              <a:rPr lang="en-IN" dirty="0" err="1">
                <a:latin typeface="Arial Black" panose="020B0A04020102020204" charset="0"/>
              </a:rPr>
              <a:t>Deposite</a:t>
            </a:r>
            <a:r>
              <a:rPr lang="en-IN" dirty="0">
                <a:latin typeface="Arial Black" panose="020B0A04020102020204" charset="0"/>
              </a:rPr>
              <a:t> Type .</a:t>
            </a:r>
          </a:p>
          <a:p>
            <a:endParaRPr lang="en-IN" dirty="0">
              <a:latin typeface="Arial Black" panose="020B0A04020102020204" charset="0"/>
            </a:endParaRPr>
          </a:p>
          <a:p>
            <a:endParaRPr lang="en-IN" dirty="0">
              <a:latin typeface="Arial Black" panose="020B0A04020102020204" charset="0"/>
            </a:endParaRPr>
          </a:p>
          <a:p>
            <a:endParaRPr lang="en-IN" dirty="0">
              <a:latin typeface="Arial Black" panose="020B0A0402010202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1010" y="233082"/>
            <a:ext cx="7951696" cy="4801314"/>
          </a:xfrm>
          <a:prstGeom prst="rect">
            <a:avLst/>
          </a:prstGeom>
          <a:noFill/>
        </p:spPr>
        <p:txBody>
          <a:bodyPr wrap="square" rtlCol="0">
            <a:spAutoFit/>
          </a:bodyPr>
          <a:lstStyle/>
          <a:p>
            <a:r>
              <a:rPr lang="en-IN" dirty="0">
                <a:latin typeface="Arial Black" panose="020B0A04020102020204" charset="0"/>
              </a:rPr>
              <a:t>24)Agent : Agent Type .</a:t>
            </a:r>
          </a:p>
          <a:p>
            <a:endParaRPr lang="en-IN" dirty="0">
              <a:latin typeface="Arial Black" panose="020B0A04020102020204" charset="0"/>
            </a:endParaRPr>
          </a:p>
          <a:p>
            <a:r>
              <a:rPr lang="en-IN" dirty="0">
                <a:latin typeface="Arial Black" panose="020B0A04020102020204" charset="0"/>
              </a:rPr>
              <a:t>25)Customer Type : Customer Type .</a:t>
            </a:r>
          </a:p>
          <a:p>
            <a:endParaRPr lang="en-IN" dirty="0">
              <a:latin typeface="Arial Black" panose="020B0A04020102020204" charset="0"/>
            </a:endParaRPr>
          </a:p>
          <a:p>
            <a:r>
              <a:rPr lang="en-IN" dirty="0">
                <a:latin typeface="Arial Black" panose="020B0A04020102020204" charset="0"/>
              </a:rPr>
              <a:t>26)ADR :Shows Average Daily Rate .</a:t>
            </a:r>
          </a:p>
          <a:p>
            <a:endParaRPr lang="en-IN" dirty="0">
              <a:latin typeface="Arial Black" panose="020B0A04020102020204" charset="0"/>
            </a:endParaRPr>
          </a:p>
          <a:p>
            <a:r>
              <a:rPr lang="en-IN" dirty="0">
                <a:latin typeface="Arial Black" panose="020B0A04020102020204" charset="0"/>
              </a:rPr>
              <a:t>27)</a:t>
            </a:r>
            <a:r>
              <a:rPr lang="en-IN" dirty="0" err="1">
                <a:latin typeface="Arial Black" panose="020B0A04020102020204" charset="0"/>
              </a:rPr>
              <a:t>Required_car_Parking</a:t>
            </a:r>
            <a:r>
              <a:rPr lang="en-IN" dirty="0">
                <a:latin typeface="Arial Black" panose="020B0A04020102020204" charset="0"/>
              </a:rPr>
              <a:t> : Total Required car Parking .</a:t>
            </a:r>
          </a:p>
          <a:p>
            <a:endParaRPr lang="en-IN" dirty="0">
              <a:latin typeface="Arial Black" panose="020B0A04020102020204" charset="0"/>
            </a:endParaRPr>
          </a:p>
          <a:p>
            <a:r>
              <a:rPr lang="en-IN" dirty="0">
                <a:latin typeface="Arial Black" panose="020B0A04020102020204" charset="0"/>
              </a:rPr>
              <a:t>28)Total Special Request : Shows Total Special request .</a:t>
            </a:r>
          </a:p>
          <a:p>
            <a:endParaRPr lang="en-IN" dirty="0">
              <a:latin typeface="Arial Black" panose="020B0A04020102020204" charset="0"/>
            </a:endParaRPr>
          </a:p>
          <a:p>
            <a:r>
              <a:rPr lang="en-IN" dirty="0">
                <a:latin typeface="Arial Black" panose="020B0A04020102020204" charset="0"/>
              </a:rPr>
              <a:t>29)Reservation Status : Shows  Reservation Status .</a:t>
            </a:r>
          </a:p>
          <a:p>
            <a:endParaRPr lang="en-IN" dirty="0">
              <a:latin typeface="Arial Black" panose="020B0A04020102020204" charset="0"/>
            </a:endParaRPr>
          </a:p>
          <a:p>
            <a:r>
              <a:rPr lang="en-IN" dirty="0">
                <a:latin typeface="Arial Black" panose="020B0A04020102020204" charset="0"/>
              </a:rPr>
              <a:t>30)Reservation Status Date : Shows Reservation Status Date .</a:t>
            </a:r>
          </a:p>
          <a:p>
            <a:endParaRPr lang="en-IN" dirty="0">
              <a:latin typeface="Arial Black" panose="020B0A04020102020204" charset="0"/>
            </a:endParaRPr>
          </a:p>
          <a:p>
            <a:r>
              <a:rPr lang="en-IN" dirty="0">
                <a:latin typeface="Arial Black" panose="020B0A04020102020204" charset="0"/>
              </a:rPr>
              <a:t>31)Customer Satisfaction : Shows Customer Satisfaction .</a:t>
            </a:r>
          </a:p>
          <a:p>
            <a:endParaRPr lang="en-IN" dirty="0">
              <a:latin typeface="Arial Black" panose="020B0A04020102020204" charset="0"/>
            </a:endParaRPr>
          </a:p>
          <a:p>
            <a:r>
              <a:rPr lang="en-IN" dirty="0">
                <a:latin typeface="Arial Black" panose="020B0A04020102020204" charset="0"/>
              </a:rPr>
              <a:t>32)Days in Waiting List : No of Days of Waiting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flipH="1">
            <a:off x="0" y="0"/>
            <a:ext cx="5897883" cy="523220"/>
          </a:xfrm>
          <a:prstGeom prst="rect">
            <a:avLst/>
          </a:prstGeom>
          <a:noFill/>
        </p:spPr>
        <p:txBody>
          <a:bodyPr wrap="square" rtlCol="0">
            <a:spAutoFit/>
          </a:bodyPr>
          <a:lstStyle/>
          <a:p>
            <a:r>
              <a:rPr lang="en-IN" sz="2800" dirty="0">
                <a:latin typeface="Arial Black" panose="020B0A04020102020204" charset="0"/>
              </a:rPr>
              <a:t> &gt;&gt;</a:t>
            </a:r>
            <a:r>
              <a:rPr lang="en-IN" sz="2800" u="sng" dirty="0">
                <a:effectLst>
                  <a:outerShdw blurRad="38100" dist="38100" dir="2700000" algn="tl">
                    <a:srgbClr val="000000">
                      <a:alpha val="43137"/>
                    </a:srgbClr>
                  </a:outerShdw>
                </a:effectLst>
                <a:latin typeface="Arial Black" panose="020B0A04020102020204" charset="0"/>
              </a:rPr>
              <a:t>Feature Engineering :</a:t>
            </a:r>
          </a:p>
        </p:txBody>
      </p:sp>
      <p:sp>
        <p:nvSpPr>
          <p:cNvPr id="4" name="TextBox 3"/>
          <p:cNvSpPr txBox="1"/>
          <p:nvPr/>
        </p:nvSpPr>
        <p:spPr>
          <a:xfrm flipH="1">
            <a:off x="3685390" y="2420471"/>
            <a:ext cx="437479" cy="369332"/>
          </a:xfrm>
          <a:prstGeom prst="rect">
            <a:avLst/>
          </a:prstGeom>
          <a:noFill/>
        </p:spPr>
        <p:txBody>
          <a:bodyPr wrap="square" rtlCol="0">
            <a:spAutoFit/>
          </a:bodyPr>
          <a:lstStyle/>
          <a:p>
            <a:r>
              <a:rPr lang="en-IN" dirty="0"/>
              <a:t>1 - </a:t>
            </a:r>
          </a:p>
        </p:txBody>
      </p:sp>
      <p:sp>
        <p:nvSpPr>
          <p:cNvPr id="8" name="TextBox 7"/>
          <p:cNvSpPr txBox="1"/>
          <p:nvPr/>
        </p:nvSpPr>
        <p:spPr>
          <a:xfrm>
            <a:off x="354102" y="838199"/>
            <a:ext cx="11622745" cy="5355312"/>
          </a:xfrm>
          <a:prstGeom prst="rect">
            <a:avLst/>
          </a:prstGeom>
          <a:noFill/>
        </p:spPr>
        <p:txBody>
          <a:bodyPr wrap="square" rtlCol="0">
            <a:spAutoFit/>
          </a:bodyPr>
          <a:lstStyle/>
          <a:p>
            <a:r>
              <a:rPr lang="en-IN" dirty="0">
                <a:latin typeface="Arial Black" panose="020B0A04020102020204" charset="0"/>
              </a:rPr>
              <a:t>1)Add Primary Key Booking Id .  </a:t>
            </a:r>
          </a:p>
          <a:p>
            <a:endParaRPr lang="en-IN" dirty="0">
              <a:latin typeface="Arial Black" panose="020B0A04020102020204" charset="0"/>
            </a:endParaRPr>
          </a:p>
          <a:p>
            <a:r>
              <a:rPr lang="en-IN" dirty="0">
                <a:latin typeface="Arial Black" panose="020B0A04020102020204" charset="0"/>
              </a:rPr>
              <a:t>2)Removed Arrival </a:t>
            </a:r>
            <a:r>
              <a:rPr lang="en-IN" dirty="0" err="1">
                <a:latin typeface="Arial Black" panose="020B0A04020102020204" charset="0"/>
              </a:rPr>
              <a:t>Day,Month</a:t>
            </a:r>
            <a:r>
              <a:rPr lang="en-IN" dirty="0">
                <a:latin typeface="Arial Black" panose="020B0A04020102020204" charset="0"/>
              </a:rPr>
              <a:t> and Year Column and Merge It in Arrival Date Column .</a:t>
            </a:r>
          </a:p>
          <a:p>
            <a:endParaRPr lang="en-IN" dirty="0">
              <a:latin typeface="Arial Black" panose="020B0A04020102020204" charset="0"/>
            </a:endParaRPr>
          </a:p>
          <a:p>
            <a:r>
              <a:rPr lang="en-IN" dirty="0">
                <a:latin typeface="Arial Black" panose="020B0A04020102020204" charset="0"/>
              </a:rPr>
              <a:t>3)Merged stay in Weekend nights and weeknights into single column name Total Stay </a:t>
            </a:r>
          </a:p>
          <a:p>
            <a:endParaRPr lang="en-IN" dirty="0">
              <a:latin typeface="Arial Black" panose="020B0A04020102020204" charset="0"/>
            </a:endParaRPr>
          </a:p>
          <a:p>
            <a:r>
              <a:rPr lang="en-IN" dirty="0">
                <a:latin typeface="Arial Black" panose="020B0A04020102020204" charset="0"/>
              </a:rPr>
              <a:t>4)Merged Adults ,babies and </a:t>
            </a:r>
            <a:r>
              <a:rPr lang="en-IN" dirty="0" err="1">
                <a:latin typeface="Arial Black" panose="020B0A04020102020204" charset="0"/>
              </a:rPr>
              <a:t>Childrens</a:t>
            </a:r>
            <a:r>
              <a:rPr lang="en-IN" dirty="0">
                <a:latin typeface="Arial Black" panose="020B0A04020102020204" charset="0"/>
              </a:rPr>
              <a:t> in Total Customers Column .</a:t>
            </a:r>
          </a:p>
          <a:p>
            <a:endParaRPr lang="en-IN" dirty="0">
              <a:latin typeface="Arial Black" panose="020B0A04020102020204" charset="0"/>
            </a:endParaRPr>
          </a:p>
          <a:p>
            <a:r>
              <a:rPr lang="en-IN" dirty="0">
                <a:latin typeface="Arial Black" panose="020B0A04020102020204" charset="0"/>
              </a:rPr>
              <a:t>5)In country Column replace the Null with Self Country .  </a:t>
            </a:r>
          </a:p>
          <a:p>
            <a:endParaRPr lang="en-IN" dirty="0">
              <a:latin typeface="Arial Black" panose="020B0A04020102020204" charset="0"/>
            </a:endParaRPr>
          </a:p>
          <a:p>
            <a:r>
              <a:rPr lang="en-IN" dirty="0">
                <a:latin typeface="Arial Black" panose="020B0A04020102020204" charset="0"/>
              </a:rPr>
              <a:t>6)Replace Agent Column Nulls with Direct Visit Booking .</a:t>
            </a:r>
          </a:p>
          <a:p>
            <a:endParaRPr lang="en-IN" dirty="0">
              <a:latin typeface="Arial Black" panose="020B0A04020102020204" charset="0"/>
            </a:endParaRPr>
          </a:p>
          <a:p>
            <a:r>
              <a:rPr lang="en-IN" dirty="0">
                <a:latin typeface="Arial Black" panose="020B0A04020102020204" charset="0"/>
              </a:rPr>
              <a:t>7)Based of Reserved Rooms and Assigned Rooms New Column Created Name As Customer         Satisfaction .</a:t>
            </a:r>
          </a:p>
          <a:p>
            <a:endParaRPr lang="en-IN" dirty="0">
              <a:latin typeface="Arial Black" panose="020B0A04020102020204" charset="0"/>
            </a:endParaRPr>
          </a:p>
          <a:p>
            <a:r>
              <a:rPr lang="en-IN" dirty="0">
                <a:latin typeface="Arial Black" panose="020B0A04020102020204" charset="0"/>
              </a:rPr>
              <a:t>8)Coverts the Data types of Columns which Required to Convert Like Numerical Columns is converted into the Whole </a:t>
            </a:r>
            <a:r>
              <a:rPr lang="en-IN" dirty="0" err="1">
                <a:latin typeface="Arial Black" panose="020B0A04020102020204" charset="0"/>
              </a:rPr>
              <a:t>Number,Text</a:t>
            </a:r>
            <a:r>
              <a:rPr lang="en-IN" dirty="0">
                <a:latin typeface="Arial Black" panose="020B0A04020102020204" charset="0"/>
              </a:rPr>
              <a:t> Into the Text and Date Column into The Date.</a:t>
            </a:r>
          </a:p>
          <a:p>
            <a:endParaRPr lang="en-IN" dirty="0">
              <a:latin typeface="Arial Black" panose="020B0A04020102020204" charset="0"/>
            </a:endParaRPr>
          </a:p>
          <a:p>
            <a:r>
              <a:rPr lang="en-IN" dirty="0">
                <a:latin typeface="Arial Black" panose="020B0A04020102020204" charset="0"/>
              </a:rPr>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5482" y="145345"/>
            <a:ext cx="6060141" cy="830997"/>
          </a:xfrm>
          <a:prstGeom prst="rect">
            <a:avLst/>
          </a:prstGeom>
          <a:noFill/>
        </p:spPr>
        <p:txBody>
          <a:bodyPr wrap="square" rtlCol="0">
            <a:spAutoFit/>
          </a:bodyPr>
          <a:lstStyle/>
          <a:p>
            <a:r>
              <a:rPr lang="en-US" sz="2400" b="1" dirty="0"/>
              <a:t>What is Booking Rate of Each Type of Hotel ? </a:t>
            </a:r>
          </a:p>
          <a:p>
            <a:endParaRPr lang="en-IN" sz="2400" b="1" dirty="0"/>
          </a:p>
        </p:txBody>
      </p:sp>
      <p:sp>
        <p:nvSpPr>
          <p:cNvPr id="3" name="Oval 2"/>
          <p:cNvSpPr/>
          <p:nvPr/>
        </p:nvSpPr>
        <p:spPr>
          <a:xfrm>
            <a:off x="273423" y="341792"/>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pic>
        <p:nvPicPr>
          <p:cNvPr id="5" name="Picture 4"/>
          <p:cNvPicPr>
            <a:picLocks noChangeAspect="1"/>
          </p:cNvPicPr>
          <p:nvPr/>
        </p:nvPicPr>
        <p:blipFill>
          <a:blip r:embed="rId2"/>
          <a:stretch>
            <a:fillRect/>
          </a:stretch>
        </p:blipFill>
        <p:spPr>
          <a:xfrm>
            <a:off x="2581835" y="1130720"/>
            <a:ext cx="6667623" cy="421224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9121" y="215752"/>
            <a:ext cx="10748683" cy="677108"/>
          </a:xfrm>
          <a:prstGeom prst="rect">
            <a:avLst/>
          </a:prstGeom>
          <a:noFill/>
        </p:spPr>
        <p:txBody>
          <a:bodyPr wrap="square" rtlCol="0">
            <a:spAutoFit/>
          </a:bodyPr>
          <a:lstStyle/>
          <a:p>
            <a:r>
              <a:rPr lang="en-US" sz="2000" b="1" dirty="0"/>
              <a:t> </a:t>
            </a:r>
            <a:r>
              <a:rPr lang="en-US" b="1" dirty="0">
                <a:latin typeface="Arial Black" panose="020B0A04020102020204" charset="0"/>
              </a:rPr>
              <a:t>Why did you pick the specific chart?</a:t>
            </a:r>
          </a:p>
          <a:p>
            <a:endParaRPr lang="en-IN" b="1" dirty="0"/>
          </a:p>
        </p:txBody>
      </p:sp>
      <p:sp>
        <p:nvSpPr>
          <p:cNvPr id="5" name="TextBox 4"/>
          <p:cNvSpPr txBox="1"/>
          <p:nvPr/>
        </p:nvSpPr>
        <p:spPr>
          <a:xfrm flipH="1">
            <a:off x="215151" y="685782"/>
            <a:ext cx="10748683" cy="369332"/>
          </a:xfrm>
          <a:prstGeom prst="rect">
            <a:avLst/>
          </a:prstGeom>
          <a:noFill/>
        </p:spPr>
        <p:txBody>
          <a:bodyPr wrap="square" rtlCol="0">
            <a:spAutoFit/>
          </a:bodyPr>
          <a:lstStyle/>
          <a:p>
            <a:r>
              <a:rPr lang="en-US" dirty="0"/>
              <a:t> </a:t>
            </a:r>
            <a:r>
              <a:rPr lang="en-US" b="1" dirty="0"/>
              <a:t>I took the Pie Chart for Simple Visualization to understand which Hotel  Have more booking City Or Resort . </a:t>
            </a:r>
            <a:endParaRPr lang="en-IN" dirty="0"/>
          </a:p>
        </p:txBody>
      </p:sp>
      <p:sp>
        <p:nvSpPr>
          <p:cNvPr id="7" name="TextBox 6"/>
          <p:cNvSpPr txBox="1"/>
          <p:nvPr/>
        </p:nvSpPr>
        <p:spPr>
          <a:xfrm>
            <a:off x="215151" y="1407713"/>
            <a:ext cx="8166847" cy="369332"/>
          </a:xfrm>
          <a:prstGeom prst="rect">
            <a:avLst/>
          </a:prstGeom>
          <a:noFill/>
        </p:spPr>
        <p:txBody>
          <a:bodyPr wrap="square" rtlCol="0">
            <a:spAutoFit/>
          </a:bodyPr>
          <a:lstStyle/>
          <a:p>
            <a:r>
              <a:rPr lang="en-US" b="1" dirty="0">
                <a:latin typeface="Arial Black" panose="020B0A04020102020204" charset="0"/>
              </a:rPr>
              <a:t> What is/are the insight(s) found from the chart ?</a:t>
            </a:r>
          </a:p>
        </p:txBody>
      </p:sp>
      <p:sp>
        <p:nvSpPr>
          <p:cNvPr id="8" name="Oval 7"/>
          <p:cNvSpPr/>
          <p:nvPr/>
        </p:nvSpPr>
        <p:spPr>
          <a:xfrm>
            <a:off x="159121" y="1493638"/>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
        <p:nvSpPr>
          <p:cNvPr id="11" name="TextBox 10"/>
          <p:cNvSpPr txBox="1"/>
          <p:nvPr/>
        </p:nvSpPr>
        <p:spPr>
          <a:xfrm>
            <a:off x="262214" y="1779602"/>
            <a:ext cx="11582400" cy="646331"/>
          </a:xfrm>
          <a:prstGeom prst="rect">
            <a:avLst/>
          </a:prstGeom>
          <a:noFill/>
        </p:spPr>
        <p:txBody>
          <a:bodyPr wrap="square" rtlCol="0">
            <a:spAutoFit/>
          </a:bodyPr>
          <a:lstStyle/>
          <a:p>
            <a:r>
              <a:rPr lang="en-US" b="1" dirty="0"/>
              <a:t>Based on above Chart  we see  City Hotel done 66.44% bookings and Resort Hotel done 33.56% bookings Which means City Hotel makes more bookings and Resort Hotel makes less bookings .</a:t>
            </a:r>
            <a:endParaRPr lang="en-IN" b="1" dirty="0"/>
          </a:p>
        </p:txBody>
      </p:sp>
      <p:sp>
        <p:nvSpPr>
          <p:cNvPr id="12" name="TextBox 11"/>
          <p:cNvSpPr txBox="1"/>
          <p:nvPr/>
        </p:nvSpPr>
        <p:spPr>
          <a:xfrm>
            <a:off x="150155" y="2793503"/>
            <a:ext cx="10336306" cy="646331"/>
          </a:xfrm>
          <a:prstGeom prst="rect">
            <a:avLst/>
          </a:prstGeom>
          <a:noFill/>
        </p:spPr>
        <p:txBody>
          <a:bodyPr wrap="square" rtlCol="0">
            <a:spAutoFit/>
          </a:bodyPr>
          <a:lstStyle/>
          <a:p>
            <a:r>
              <a:rPr lang="en-US" b="1" dirty="0"/>
              <a:t> </a:t>
            </a:r>
            <a:r>
              <a:rPr lang="en-US" b="1" dirty="0">
                <a:latin typeface="Arial Black" panose="020B0A04020102020204" charset="0"/>
              </a:rPr>
              <a:t>Will the gained insights help creating a positive business impact?</a:t>
            </a:r>
          </a:p>
          <a:p>
            <a:r>
              <a:rPr lang="en-US" b="1" dirty="0">
                <a:latin typeface="Arial Black" panose="020B0A04020102020204" charset="0"/>
              </a:rPr>
              <a:t>Are there any insights that lead to negative growth? Justify with specific reason</a:t>
            </a:r>
            <a:r>
              <a:rPr lang="en-US" b="1" dirty="0"/>
              <a:t>.</a:t>
            </a:r>
          </a:p>
        </p:txBody>
      </p:sp>
      <p:sp>
        <p:nvSpPr>
          <p:cNvPr id="13" name="Oval 12"/>
          <p:cNvSpPr/>
          <p:nvPr/>
        </p:nvSpPr>
        <p:spPr>
          <a:xfrm>
            <a:off x="94125" y="2906089"/>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
        <p:nvSpPr>
          <p:cNvPr id="14" name="TextBox 13"/>
          <p:cNvSpPr txBox="1"/>
          <p:nvPr/>
        </p:nvSpPr>
        <p:spPr>
          <a:xfrm>
            <a:off x="94125" y="3515219"/>
            <a:ext cx="11629464" cy="923330"/>
          </a:xfrm>
          <a:prstGeom prst="rect">
            <a:avLst/>
          </a:prstGeom>
          <a:noFill/>
        </p:spPr>
        <p:txBody>
          <a:bodyPr wrap="square" rtlCol="0">
            <a:spAutoFit/>
          </a:bodyPr>
          <a:lstStyle/>
          <a:p>
            <a:r>
              <a:rPr lang="en-IN" b="1" dirty="0"/>
              <a:t> Yes, Resort Hotel Staff will look how City Hotel  Staff works and what is Working Algorithms of City  Hotel so Resort Hotel Can </a:t>
            </a:r>
            <a:r>
              <a:rPr lang="en-IN" b="1" dirty="0" err="1"/>
              <a:t>Genarates</a:t>
            </a:r>
            <a:r>
              <a:rPr lang="en-IN" b="1" dirty="0"/>
              <a:t> the booking like City Hotel.   City Hotel Can Provides more facility &amp; services </a:t>
            </a:r>
            <a:r>
              <a:rPr lang="en-IN" b="1" dirty="0" err="1"/>
              <a:t>services</a:t>
            </a:r>
            <a:r>
              <a:rPr lang="en-IN" b="1" dirty="0"/>
              <a:t> for continuous growth.</a:t>
            </a:r>
          </a:p>
        </p:txBody>
      </p:sp>
      <p:sp>
        <p:nvSpPr>
          <p:cNvPr id="15" name="Oval 14"/>
          <p:cNvSpPr/>
          <p:nvPr/>
        </p:nvSpPr>
        <p:spPr>
          <a:xfrm>
            <a:off x="150155" y="361371"/>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800" y="206188"/>
            <a:ext cx="7575177" cy="461665"/>
          </a:xfrm>
          <a:prstGeom prst="rect">
            <a:avLst/>
          </a:prstGeom>
          <a:noFill/>
        </p:spPr>
        <p:txBody>
          <a:bodyPr wrap="square" rtlCol="0">
            <a:spAutoFit/>
          </a:bodyPr>
          <a:lstStyle/>
          <a:p>
            <a:r>
              <a:rPr lang="en-IN" sz="2400" b="1" dirty="0"/>
              <a:t>What is the Cancellation  Rate for Each Hotel Type ?</a:t>
            </a:r>
          </a:p>
        </p:txBody>
      </p:sp>
      <p:sp>
        <p:nvSpPr>
          <p:cNvPr id="4" name="Oval 3"/>
          <p:cNvSpPr/>
          <p:nvPr/>
        </p:nvSpPr>
        <p:spPr>
          <a:xfrm>
            <a:off x="192741" y="387649"/>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pic>
        <p:nvPicPr>
          <p:cNvPr id="12" name="Picture 11"/>
          <p:cNvPicPr>
            <a:picLocks noChangeAspect="1"/>
          </p:cNvPicPr>
          <p:nvPr/>
        </p:nvPicPr>
        <p:blipFill>
          <a:blip r:embed="rId2"/>
          <a:stretch>
            <a:fillRect/>
          </a:stretch>
        </p:blipFill>
        <p:spPr>
          <a:xfrm>
            <a:off x="2530268" y="1282222"/>
            <a:ext cx="6437117" cy="374697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6518" y="286871"/>
            <a:ext cx="6669741" cy="400110"/>
          </a:xfrm>
          <a:prstGeom prst="rect">
            <a:avLst/>
          </a:prstGeom>
          <a:noFill/>
        </p:spPr>
        <p:txBody>
          <a:bodyPr wrap="square" rtlCol="0">
            <a:spAutoFit/>
          </a:bodyPr>
          <a:lstStyle/>
          <a:p>
            <a:r>
              <a:rPr lang="en-US" sz="2000" b="1" dirty="0"/>
              <a:t> </a:t>
            </a:r>
            <a:r>
              <a:rPr lang="en-US" b="1" dirty="0">
                <a:latin typeface="Arial Black" panose="020B0A04020102020204" charset="0"/>
              </a:rPr>
              <a:t>Why did you pick the specific chart?</a:t>
            </a:r>
          </a:p>
        </p:txBody>
      </p:sp>
      <p:sp>
        <p:nvSpPr>
          <p:cNvPr id="3" name="Oval 2"/>
          <p:cNvSpPr/>
          <p:nvPr/>
        </p:nvSpPr>
        <p:spPr>
          <a:xfrm>
            <a:off x="264458" y="437555"/>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
        <p:nvSpPr>
          <p:cNvPr id="6" name="TextBox 5"/>
          <p:cNvSpPr txBox="1"/>
          <p:nvPr/>
        </p:nvSpPr>
        <p:spPr>
          <a:xfrm>
            <a:off x="488131" y="713880"/>
            <a:ext cx="11205882" cy="369332"/>
          </a:xfrm>
          <a:prstGeom prst="rect">
            <a:avLst/>
          </a:prstGeom>
          <a:noFill/>
        </p:spPr>
        <p:txBody>
          <a:bodyPr wrap="square" rtlCol="0">
            <a:spAutoFit/>
          </a:bodyPr>
          <a:lstStyle/>
          <a:p>
            <a:r>
              <a:rPr lang="en-US" b="1" dirty="0"/>
              <a:t>I took the Pie Chart for Simple Visualization to understand which Hotel  Have more Cancellation Rate City Or Resort .</a:t>
            </a:r>
            <a:endParaRPr lang="en-IN" dirty="0"/>
          </a:p>
        </p:txBody>
      </p:sp>
      <p:sp>
        <p:nvSpPr>
          <p:cNvPr id="7" name="TextBox 6"/>
          <p:cNvSpPr txBox="1"/>
          <p:nvPr/>
        </p:nvSpPr>
        <p:spPr>
          <a:xfrm>
            <a:off x="448237" y="1627853"/>
            <a:ext cx="8695764" cy="369332"/>
          </a:xfrm>
          <a:prstGeom prst="rect">
            <a:avLst/>
          </a:prstGeom>
          <a:noFill/>
        </p:spPr>
        <p:txBody>
          <a:bodyPr wrap="square" rtlCol="0">
            <a:spAutoFit/>
          </a:bodyPr>
          <a:lstStyle/>
          <a:p>
            <a:r>
              <a:rPr lang="en-US" b="1" dirty="0">
                <a:latin typeface="Arial Black" panose="020B0A04020102020204" charset="0"/>
              </a:rPr>
              <a:t>What is/are the insight(s) found from the chart ?</a:t>
            </a:r>
            <a:endParaRPr lang="en-IN" dirty="0"/>
          </a:p>
        </p:txBody>
      </p:sp>
      <p:sp>
        <p:nvSpPr>
          <p:cNvPr id="8" name="Oval 7"/>
          <p:cNvSpPr/>
          <p:nvPr/>
        </p:nvSpPr>
        <p:spPr>
          <a:xfrm>
            <a:off x="264458" y="1762325"/>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
        <p:nvSpPr>
          <p:cNvPr id="9" name="TextBox 8"/>
          <p:cNvSpPr txBox="1"/>
          <p:nvPr/>
        </p:nvSpPr>
        <p:spPr>
          <a:xfrm>
            <a:off x="591672" y="1996361"/>
            <a:ext cx="11793071" cy="923330"/>
          </a:xfrm>
          <a:prstGeom prst="rect">
            <a:avLst/>
          </a:prstGeom>
          <a:noFill/>
        </p:spPr>
        <p:txBody>
          <a:bodyPr wrap="square" rtlCol="0">
            <a:spAutoFit/>
          </a:bodyPr>
          <a:lstStyle/>
          <a:p>
            <a:r>
              <a:rPr lang="en-US" b="1" dirty="0"/>
              <a:t>Based on above Chart  we see  City Hotel have 74.85% Cancellation Rate and Resort Hotel have  25.15% Cancellation Rate Which means City Hotel makes more Cancellation Rate and Resort Hotel less Cancellation Rate .</a:t>
            </a:r>
            <a:endParaRPr lang="en-IN" b="1" dirty="0"/>
          </a:p>
          <a:p>
            <a:endParaRPr lang="en-IN" dirty="0"/>
          </a:p>
        </p:txBody>
      </p:sp>
      <p:sp>
        <p:nvSpPr>
          <p:cNvPr id="10" name="TextBox 9"/>
          <p:cNvSpPr txBox="1"/>
          <p:nvPr/>
        </p:nvSpPr>
        <p:spPr>
          <a:xfrm>
            <a:off x="376517" y="3127012"/>
            <a:ext cx="11860307" cy="646331"/>
          </a:xfrm>
          <a:prstGeom prst="rect">
            <a:avLst/>
          </a:prstGeom>
          <a:noFill/>
        </p:spPr>
        <p:txBody>
          <a:bodyPr wrap="square" rtlCol="0">
            <a:spAutoFit/>
          </a:bodyPr>
          <a:lstStyle/>
          <a:p>
            <a:r>
              <a:rPr lang="en-US" b="1" dirty="0">
                <a:latin typeface="Arial Black" panose="020B0A04020102020204" charset="0"/>
              </a:rPr>
              <a:t>Will the gained insights help creating a positive business impact?</a:t>
            </a:r>
          </a:p>
          <a:p>
            <a:r>
              <a:rPr lang="en-US" b="1" dirty="0">
                <a:latin typeface="Arial Black" panose="020B0A04020102020204" charset="0"/>
              </a:rPr>
              <a:t>Are there any insights that lead to negative growth? Justify with specific reason</a:t>
            </a:r>
            <a:endParaRPr lang="en-IN" dirty="0"/>
          </a:p>
        </p:txBody>
      </p:sp>
      <p:sp>
        <p:nvSpPr>
          <p:cNvPr id="11" name="Oval 10"/>
          <p:cNvSpPr/>
          <p:nvPr/>
        </p:nvSpPr>
        <p:spPr>
          <a:xfrm>
            <a:off x="264458" y="3255219"/>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
        <p:nvSpPr>
          <p:cNvPr id="13" name="TextBox 12"/>
          <p:cNvSpPr txBox="1"/>
          <p:nvPr/>
        </p:nvSpPr>
        <p:spPr>
          <a:xfrm flipH="1">
            <a:off x="448237" y="3773343"/>
            <a:ext cx="11285670" cy="1754326"/>
          </a:xfrm>
          <a:prstGeom prst="rect">
            <a:avLst/>
          </a:prstGeom>
          <a:noFill/>
        </p:spPr>
        <p:txBody>
          <a:bodyPr wrap="square" rtlCol="0">
            <a:spAutoFit/>
          </a:bodyPr>
          <a:lstStyle/>
          <a:p>
            <a:r>
              <a:rPr lang="en-US" b="1" dirty="0"/>
              <a:t>From the chart, we can observe that City Hotel has a higher number of cancellations, but it also receives more no of bookings. This indicates that the City Hotel should investigate the factors contributing to its high cancellation rate.</a:t>
            </a:r>
          </a:p>
          <a:p>
            <a:r>
              <a:rPr lang="en-US" b="1" dirty="0"/>
              <a:t>On the other hand, Resort Hotel shows fewer cancellations, which is positive, but it also has fewer overall bookings. Therefore, the Resort Hotel should explore the reasons behind its cancellations as well as focus on strategies to increase bookings.</a:t>
            </a:r>
          </a:p>
          <a:p>
            <a:r>
              <a:rPr lang="en-IN" b="1"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2729" y="215153"/>
            <a:ext cx="10730753" cy="369332"/>
          </a:xfrm>
          <a:prstGeom prst="rect">
            <a:avLst/>
          </a:prstGeom>
          <a:noFill/>
        </p:spPr>
        <p:txBody>
          <a:bodyPr wrap="square" rtlCol="0">
            <a:spAutoFit/>
          </a:bodyPr>
          <a:lstStyle/>
          <a:p>
            <a:r>
              <a:rPr lang="en-IN" b="1" dirty="0">
                <a:latin typeface="Arial Black" panose="020B0A04020102020204" charset="0"/>
              </a:rPr>
              <a:t>What is Average Lead-Time for the Booking ?</a:t>
            </a:r>
          </a:p>
        </p:txBody>
      </p:sp>
      <p:sp>
        <p:nvSpPr>
          <p:cNvPr id="3" name="Oval 2"/>
          <p:cNvSpPr/>
          <p:nvPr/>
        </p:nvSpPr>
        <p:spPr>
          <a:xfrm>
            <a:off x="210670" y="350448"/>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pic>
        <p:nvPicPr>
          <p:cNvPr id="5" name="Picture 4"/>
          <p:cNvPicPr>
            <a:picLocks noChangeAspect="1"/>
          </p:cNvPicPr>
          <p:nvPr/>
        </p:nvPicPr>
        <p:blipFill>
          <a:blip r:embed="rId2"/>
          <a:stretch>
            <a:fillRect/>
          </a:stretch>
        </p:blipFill>
        <p:spPr>
          <a:xfrm>
            <a:off x="983867" y="908413"/>
            <a:ext cx="8750734" cy="408492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012" y="206188"/>
            <a:ext cx="7485529" cy="369332"/>
          </a:xfrm>
          <a:prstGeom prst="rect">
            <a:avLst/>
          </a:prstGeom>
          <a:noFill/>
        </p:spPr>
        <p:txBody>
          <a:bodyPr wrap="square" rtlCol="0">
            <a:spAutoFit/>
          </a:bodyPr>
          <a:lstStyle/>
          <a:p>
            <a:r>
              <a:rPr lang="en-US" b="1" dirty="0">
                <a:latin typeface="Arial Black" panose="020B0A04020102020204" charset="0"/>
              </a:rPr>
              <a:t>Why did you pick the specific chart?</a:t>
            </a:r>
            <a:endParaRPr lang="en-IN" dirty="0"/>
          </a:p>
        </p:txBody>
      </p:sp>
      <p:sp>
        <p:nvSpPr>
          <p:cNvPr id="4" name="TextBox 3"/>
          <p:cNvSpPr txBox="1"/>
          <p:nvPr/>
        </p:nvSpPr>
        <p:spPr>
          <a:xfrm>
            <a:off x="331694" y="575520"/>
            <a:ext cx="9036424" cy="923330"/>
          </a:xfrm>
          <a:prstGeom prst="rect">
            <a:avLst/>
          </a:prstGeom>
          <a:noFill/>
        </p:spPr>
        <p:txBody>
          <a:bodyPr wrap="square" rtlCol="0">
            <a:spAutoFit/>
          </a:bodyPr>
          <a:lstStyle/>
          <a:p>
            <a:r>
              <a:rPr lang="en-US" b="1" dirty="0"/>
              <a:t>I selected a Stacked Column Chart because it provides a clear and simple visualization of the waiting time for both hotel types (City Hotel and Resort Hotel) in one place. The stacked format makes it easy to compare:</a:t>
            </a:r>
            <a:endParaRPr lang="en-IN" b="1" dirty="0"/>
          </a:p>
        </p:txBody>
      </p:sp>
      <p:sp>
        <p:nvSpPr>
          <p:cNvPr id="5" name="Oval 4"/>
          <p:cNvSpPr/>
          <p:nvPr/>
        </p:nvSpPr>
        <p:spPr>
          <a:xfrm>
            <a:off x="156882" y="305624"/>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
        <p:nvSpPr>
          <p:cNvPr id="6" name="TextBox 5"/>
          <p:cNvSpPr txBox="1"/>
          <p:nvPr/>
        </p:nvSpPr>
        <p:spPr>
          <a:xfrm>
            <a:off x="212911" y="1721224"/>
            <a:ext cx="8946777" cy="369332"/>
          </a:xfrm>
          <a:prstGeom prst="rect">
            <a:avLst/>
          </a:prstGeom>
          <a:noFill/>
        </p:spPr>
        <p:txBody>
          <a:bodyPr wrap="square" rtlCol="0">
            <a:spAutoFit/>
          </a:bodyPr>
          <a:lstStyle/>
          <a:p>
            <a:r>
              <a:rPr lang="en-US" b="1" dirty="0">
                <a:latin typeface="Arial Black" panose="020B0A04020102020204" charset="0"/>
              </a:rPr>
              <a:t>What is/are the insight(s) found from the chart ?</a:t>
            </a:r>
            <a:endParaRPr lang="en-IN" dirty="0"/>
          </a:p>
        </p:txBody>
      </p:sp>
      <p:sp>
        <p:nvSpPr>
          <p:cNvPr id="7" name="Oval 6"/>
          <p:cNvSpPr/>
          <p:nvPr/>
        </p:nvSpPr>
        <p:spPr>
          <a:xfrm>
            <a:off x="125504" y="1856519"/>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
        <p:nvSpPr>
          <p:cNvPr id="9" name="TextBox 8"/>
          <p:cNvSpPr txBox="1"/>
          <p:nvPr/>
        </p:nvSpPr>
        <p:spPr>
          <a:xfrm>
            <a:off x="268941" y="2090556"/>
            <a:ext cx="10829365" cy="646331"/>
          </a:xfrm>
          <a:prstGeom prst="rect">
            <a:avLst/>
          </a:prstGeom>
          <a:noFill/>
        </p:spPr>
        <p:txBody>
          <a:bodyPr wrap="square" rtlCol="0">
            <a:spAutoFit/>
          </a:bodyPr>
          <a:lstStyle/>
          <a:p>
            <a:r>
              <a:rPr lang="en-US" b="1" dirty="0"/>
              <a:t>City Hotel has a higher total waiting time compared to Resort Hotel.</a:t>
            </a:r>
            <a:br>
              <a:rPr lang="en-US" b="1" dirty="0"/>
            </a:br>
            <a:r>
              <a:rPr lang="en-US" b="1" dirty="0"/>
              <a:t>This indicates that guests staying at City Hotel generally experience more delays before check-in.</a:t>
            </a:r>
            <a:endParaRPr lang="en-IN" b="1" dirty="0"/>
          </a:p>
        </p:txBody>
      </p:sp>
      <p:sp>
        <p:nvSpPr>
          <p:cNvPr id="12" name="TextBox 11"/>
          <p:cNvSpPr txBox="1"/>
          <p:nvPr/>
        </p:nvSpPr>
        <p:spPr>
          <a:xfrm>
            <a:off x="237563" y="3236260"/>
            <a:ext cx="12012706" cy="646331"/>
          </a:xfrm>
          <a:prstGeom prst="rect">
            <a:avLst/>
          </a:prstGeom>
          <a:noFill/>
        </p:spPr>
        <p:txBody>
          <a:bodyPr wrap="square" rtlCol="0">
            <a:spAutoFit/>
          </a:bodyPr>
          <a:lstStyle/>
          <a:p>
            <a:r>
              <a:rPr lang="en-US" b="1" dirty="0">
                <a:latin typeface="Arial Black" panose="020B0A04020102020204" charset="0"/>
              </a:rPr>
              <a:t>Will the gained insights help creating a positive business impact?</a:t>
            </a:r>
          </a:p>
          <a:p>
            <a:r>
              <a:rPr lang="en-US" b="1" dirty="0">
                <a:latin typeface="Arial Black" panose="020B0A04020102020204" charset="0"/>
              </a:rPr>
              <a:t>Are there any insights that lead to negative growth? Justify with specific reason</a:t>
            </a:r>
            <a:endParaRPr lang="en-IN" dirty="0"/>
          </a:p>
        </p:txBody>
      </p:sp>
      <p:sp>
        <p:nvSpPr>
          <p:cNvPr id="13" name="Oval 12"/>
          <p:cNvSpPr/>
          <p:nvPr/>
        </p:nvSpPr>
        <p:spPr>
          <a:xfrm>
            <a:off x="125504" y="3379629"/>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
        <p:nvSpPr>
          <p:cNvPr id="14" name="TextBox 13"/>
          <p:cNvSpPr txBox="1"/>
          <p:nvPr/>
        </p:nvSpPr>
        <p:spPr>
          <a:xfrm>
            <a:off x="237563" y="3882591"/>
            <a:ext cx="11129684" cy="923330"/>
          </a:xfrm>
          <a:prstGeom prst="rect">
            <a:avLst/>
          </a:prstGeom>
          <a:noFill/>
        </p:spPr>
        <p:txBody>
          <a:bodyPr wrap="square" rtlCol="0">
            <a:spAutoFit/>
          </a:bodyPr>
          <a:lstStyle/>
          <a:p>
            <a:r>
              <a:rPr lang="en-US" b="1" dirty="0"/>
              <a:t>Yes.</a:t>
            </a:r>
            <a:br>
              <a:rPr lang="en-US" b="1" dirty="0"/>
            </a:br>
            <a:r>
              <a:rPr lang="en-US" b="1" dirty="0"/>
              <a:t>The insights show that City Hotel has higher waiting time, which helps management focus on improving check-in speed, staff allocation, and customer service — leading to better guest experience and higher bookings.</a:t>
            </a:r>
            <a:endParaRPr lang="en-IN" b="1" dirty="0"/>
          </a:p>
        </p:txBody>
      </p:sp>
      <p:sp>
        <p:nvSpPr>
          <p:cNvPr id="15" name="TextBox 14"/>
          <p:cNvSpPr txBox="1"/>
          <p:nvPr/>
        </p:nvSpPr>
        <p:spPr>
          <a:xfrm>
            <a:off x="212911" y="4848498"/>
            <a:ext cx="9592235" cy="646331"/>
          </a:xfrm>
          <a:prstGeom prst="rect">
            <a:avLst/>
          </a:prstGeom>
          <a:noFill/>
        </p:spPr>
        <p:txBody>
          <a:bodyPr wrap="square" rtlCol="0">
            <a:spAutoFit/>
          </a:bodyPr>
          <a:lstStyle/>
          <a:p>
            <a:r>
              <a:rPr lang="en-US" b="1" dirty="0"/>
              <a:t>High waiting time at City Hotel can cause customer dissatisfaction, bad reviews, and increased cancellations, which may negatively affect revenue and growth.</a:t>
            </a:r>
            <a:endParaRPr lang="en-IN"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5153" y="-107576"/>
            <a:ext cx="10354235" cy="1030941"/>
          </a:xfrm>
          <a:prstGeom prst="rect">
            <a:avLst/>
          </a:prstGeom>
          <a:noFill/>
        </p:spPr>
        <p:txBody>
          <a:bodyPr wrap="square" rtlCol="0">
            <a:spAutoFit/>
          </a:bodyPr>
          <a:lstStyle/>
          <a:p>
            <a:endParaRPr lang="en-IN" dirty="0"/>
          </a:p>
        </p:txBody>
      </p:sp>
      <p:pic>
        <p:nvPicPr>
          <p:cNvPr id="4" name="Picture 3"/>
          <p:cNvPicPr>
            <a:picLocks noChangeAspect="1"/>
          </p:cNvPicPr>
          <p:nvPr/>
        </p:nvPicPr>
        <p:blipFill>
          <a:blip r:embed="rId2"/>
          <a:stretch>
            <a:fillRect/>
          </a:stretch>
        </p:blipFill>
        <p:spPr>
          <a:xfrm>
            <a:off x="1622612" y="833716"/>
            <a:ext cx="7277902" cy="4330053"/>
          </a:xfrm>
          <a:prstGeom prst="rect">
            <a:avLst/>
          </a:prstGeom>
        </p:spPr>
      </p:pic>
      <p:sp>
        <p:nvSpPr>
          <p:cNvPr id="5" name="TextBox 4"/>
          <p:cNvSpPr txBox="1"/>
          <p:nvPr/>
        </p:nvSpPr>
        <p:spPr>
          <a:xfrm>
            <a:off x="188259" y="177061"/>
            <a:ext cx="8462681" cy="461665"/>
          </a:xfrm>
          <a:prstGeom prst="rect">
            <a:avLst/>
          </a:prstGeom>
          <a:noFill/>
        </p:spPr>
        <p:txBody>
          <a:bodyPr wrap="square" rtlCol="0">
            <a:spAutoFit/>
          </a:bodyPr>
          <a:lstStyle/>
          <a:p>
            <a:r>
              <a:rPr lang="en-IN" sz="2400" b="1" dirty="0"/>
              <a:t>What is Year wise booking along with Hotel Type ?</a:t>
            </a:r>
          </a:p>
        </p:txBody>
      </p:sp>
      <p:sp>
        <p:nvSpPr>
          <p:cNvPr id="6" name="Oval 5"/>
          <p:cNvSpPr/>
          <p:nvPr/>
        </p:nvSpPr>
        <p:spPr>
          <a:xfrm>
            <a:off x="103095" y="358522"/>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flipH="1">
            <a:off x="255493" y="529791"/>
            <a:ext cx="6956612" cy="1200329"/>
          </a:xfrm>
          <a:prstGeom prst="rect">
            <a:avLst/>
          </a:prstGeom>
          <a:noFill/>
        </p:spPr>
        <p:txBody>
          <a:bodyPr wrap="square" rtlCol="0">
            <a:spAutoFit/>
          </a:bodyPr>
          <a:lstStyle/>
          <a:p>
            <a:r>
              <a:rPr lang="en-US" b="1" dirty="0"/>
              <a:t>I chose a Clustered Column Chart because it clearly compares the year-wise bookings of City Hotel and Resort Hotel side-by-side. This chart makes it easy to see how bookings changed each year and which hotel type received more bookings in each period.</a:t>
            </a:r>
            <a:endParaRPr lang="en-IN" b="1" dirty="0"/>
          </a:p>
        </p:txBody>
      </p:sp>
      <p:sp>
        <p:nvSpPr>
          <p:cNvPr id="6" name="TextBox 5"/>
          <p:cNvSpPr txBox="1"/>
          <p:nvPr/>
        </p:nvSpPr>
        <p:spPr>
          <a:xfrm>
            <a:off x="255493" y="11442"/>
            <a:ext cx="7521388" cy="646331"/>
          </a:xfrm>
          <a:prstGeom prst="rect">
            <a:avLst/>
          </a:prstGeom>
          <a:noFill/>
        </p:spPr>
        <p:txBody>
          <a:bodyPr wrap="square" rtlCol="0">
            <a:spAutoFit/>
          </a:bodyPr>
          <a:lstStyle/>
          <a:p>
            <a:r>
              <a:rPr lang="en-US" b="1" dirty="0">
                <a:latin typeface="Arial Black" panose="020B0A04020102020204" charset="0"/>
              </a:rPr>
              <a:t>Why did you pick the specific chart ?</a:t>
            </a:r>
            <a:endParaRPr lang="en-IN" dirty="0"/>
          </a:p>
          <a:p>
            <a:endParaRPr lang="en-IN" dirty="0"/>
          </a:p>
        </p:txBody>
      </p:sp>
      <p:sp>
        <p:nvSpPr>
          <p:cNvPr id="7" name="Oval 6"/>
          <p:cNvSpPr/>
          <p:nvPr/>
        </p:nvSpPr>
        <p:spPr>
          <a:xfrm>
            <a:off x="129985" y="126332"/>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
        <p:nvSpPr>
          <p:cNvPr id="8" name="TextBox 7"/>
          <p:cNvSpPr txBox="1"/>
          <p:nvPr/>
        </p:nvSpPr>
        <p:spPr>
          <a:xfrm flipH="1">
            <a:off x="199462" y="2025922"/>
            <a:ext cx="9007290" cy="369332"/>
          </a:xfrm>
          <a:prstGeom prst="rect">
            <a:avLst/>
          </a:prstGeom>
          <a:noFill/>
        </p:spPr>
        <p:txBody>
          <a:bodyPr wrap="square" rtlCol="0">
            <a:spAutoFit/>
          </a:bodyPr>
          <a:lstStyle/>
          <a:p>
            <a:r>
              <a:rPr lang="en-US" b="1" dirty="0">
                <a:latin typeface="Arial Black" panose="020B0A04020102020204" charset="0"/>
              </a:rPr>
              <a:t>What is/are the insight(s) found from the chart ?</a:t>
            </a:r>
            <a:endParaRPr lang="en-IN" dirty="0"/>
          </a:p>
        </p:txBody>
      </p:sp>
      <p:sp>
        <p:nvSpPr>
          <p:cNvPr id="9" name="Oval 8"/>
          <p:cNvSpPr/>
          <p:nvPr/>
        </p:nvSpPr>
        <p:spPr>
          <a:xfrm>
            <a:off x="116539" y="2161217"/>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
        <p:nvSpPr>
          <p:cNvPr id="10" name="TextBox 9"/>
          <p:cNvSpPr txBox="1"/>
          <p:nvPr/>
        </p:nvSpPr>
        <p:spPr>
          <a:xfrm>
            <a:off x="277906" y="2395254"/>
            <a:ext cx="11672047" cy="2031325"/>
          </a:xfrm>
          <a:prstGeom prst="rect">
            <a:avLst/>
          </a:prstGeom>
          <a:noFill/>
        </p:spPr>
        <p:txBody>
          <a:bodyPr wrap="square" rtlCol="0">
            <a:spAutoFit/>
          </a:bodyPr>
          <a:lstStyle/>
          <a:p>
            <a:r>
              <a:rPr lang="en-US" b="1" dirty="0"/>
              <a:t>Insights from the chart</a:t>
            </a:r>
          </a:p>
          <a:p>
            <a:endParaRPr lang="en-US" b="1" dirty="0"/>
          </a:p>
          <a:p>
            <a:r>
              <a:rPr lang="en-US" b="1" dirty="0"/>
              <a:t>1)City Hotel consistently has more bookings than Resort Hotel in all three years (2015, 2016, 2017).</a:t>
            </a:r>
          </a:p>
          <a:p>
            <a:endParaRPr lang="en-US" b="1" dirty="0"/>
          </a:p>
          <a:p>
            <a:r>
              <a:rPr lang="en-US" b="1" dirty="0"/>
              <a:t>2)2016 shows the highest bookings overall, especially for City Hotel.</a:t>
            </a:r>
          </a:p>
          <a:p>
            <a:endParaRPr lang="en-US" b="1" dirty="0"/>
          </a:p>
          <a:p>
            <a:r>
              <a:rPr lang="en-US" b="1" dirty="0"/>
              <a:t>3)Resort Hotel bookings are lower but stable, showing gradual growth from 2015 to 2017.</a:t>
            </a:r>
          </a:p>
        </p:txBody>
      </p:sp>
      <p:sp>
        <p:nvSpPr>
          <p:cNvPr id="12" name="TextBox 11"/>
          <p:cNvSpPr txBox="1"/>
          <p:nvPr/>
        </p:nvSpPr>
        <p:spPr>
          <a:xfrm>
            <a:off x="199462" y="4643304"/>
            <a:ext cx="11725835" cy="646331"/>
          </a:xfrm>
          <a:prstGeom prst="rect">
            <a:avLst/>
          </a:prstGeom>
          <a:noFill/>
        </p:spPr>
        <p:txBody>
          <a:bodyPr wrap="square" rtlCol="0">
            <a:spAutoFit/>
          </a:bodyPr>
          <a:lstStyle/>
          <a:p>
            <a:r>
              <a:rPr lang="en-US" b="1" dirty="0">
                <a:latin typeface="Arial Black" panose="020B0A04020102020204" charset="0"/>
              </a:rPr>
              <a:t>Will the gained insights help creating a positive business impact?</a:t>
            </a:r>
          </a:p>
          <a:p>
            <a:r>
              <a:rPr lang="en-US" b="1" dirty="0">
                <a:latin typeface="Arial Black" panose="020B0A04020102020204" charset="0"/>
              </a:rPr>
              <a:t>Are there any insights that lead to negative growth? Justify with specific reason</a:t>
            </a:r>
            <a:endParaRPr lang="en-IN" dirty="0"/>
          </a:p>
        </p:txBody>
      </p:sp>
      <p:sp>
        <p:nvSpPr>
          <p:cNvPr id="13" name="Oval 12"/>
          <p:cNvSpPr/>
          <p:nvPr/>
        </p:nvSpPr>
        <p:spPr>
          <a:xfrm>
            <a:off x="116539" y="4769946"/>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
        <p:nvSpPr>
          <p:cNvPr id="15" name="TextBox 14"/>
          <p:cNvSpPr txBox="1"/>
          <p:nvPr/>
        </p:nvSpPr>
        <p:spPr>
          <a:xfrm flipH="1">
            <a:off x="199462" y="5289635"/>
            <a:ext cx="11465859" cy="646331"/>
          </a:xfrm>
          <a:prstGeom prst="rect">
            <a:avLst/>
          </a:prstGeom>
          <a:noFill/>
        </p:spPr>
        <p:txBody>
          <a:bodyPr wrap="square" rtlCol="0">
            <a:spAutoFit/>
          </a:bodyPr>
          <a:lstStyle/>
          <a:p>
            <a:r>
              <a:rPr lang="en-US" b="1" dirty="0"/>
              <a:t>City Hotels are performing strongly across all years, while Resort Hotels show lower and slower growth. Focusing on improving Resort Hotel demand can help balance revenue and support long-term business growth.</a:t>
            </a:r>
            <a:endParaRPr lang="en-IN"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5152" y="116541"/>
            <a:ext cx="9637059" cy="523220"/>
          </a:xfrm>
          <a:prstGeom prst="rect">
            <a:avLst/>
          </a:prstGeom>
          <a:noFill/>
        </p:spPr>
        <p:txBody>
          <a:bodyPr wrap="square" rtlCol="0">
            <a:spAutoFit/>
          </a:bodyPr>
          <a:lstStyle/>
          <a:p>
            <a:r>
              <a:rPr lang="en-IN" b="1" dirty="0">
                <a:latin typeface="Arial Black" panose="020B0A04020102020204" charset="0"/>
              </a:rPr>
              <a:t>Which  Country brings more Guests </a:t>
            </a:r>
            <a:r>
              <a:rPr lang="en-IN" sz="2800" b="1" dirty="0">
                <a:latin typeface="Arial Black" panose="020B0A04020102020204" charset="0"/>
              </a:rPr>
              <a:t>?</a:t>
            </a:r>
          </a:p>
        </p:txBody>
      </p:sp>
      <p:sp>
        <p:nvSpPr>
          <p:cNvPr id="6" name="Oval 5"/>
          <p:cNvSpPr/>
          <p:nvPr/>
        </p:nvSpPr>
        <p:spPr>
          <a:xfrm>
            <a:off x="103093" y="378151"/>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pic>
        <p:nvPicPr>
          <p:cNvPr id="9" name="Picture 8"/>
          <p:cNvPicPr>
            <a:picLocks noChangeAspect="1"/>
          </p:cNvPicPr>
          <p:nvPr/>
        </p:nvPicPr>
        <p:blipFill>
          <a:blip r:embed="rId2"/>
          <a:stretch>
            <a:fillRect/>
          </a:stretch>
        </p:blipFill>
        <p:spPr>
          <a:xfrm>
            <a:off x="1739151" y="931958"/>
            <a:ext cx="7620001" cy="439980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494" y="98611"/>
            <a:ext cx="8023412" cy="646331"/>
          </a:xfrm>
          <a:prstGeom prst="rect">
            <a:avLst/>
          </a:prstGeom>
          <a:noFill/>
        </p:spPr>
        <p:txBody>
          <a:bodyPr wrap="square" rtlCol="0">
            <a:spAutoFit/>
          </a:bodyPr>
          <a:lstStyle/>
          <a:p>
            <a:r>
              <a:rPr lang="en-US" b="1" dirty="0">
                <a:latin typeface="Arial Black" panose="020B0A04020102020204" charset="0"/>
              </a:rPr>
              <a:t>Why did you pick the specific chart?</a:t>
            </a:r>
          </a:p>
          <a:p>
            <a:endParaRPr lang="en-IN" dirty="0"/>
          </a:p>
        </p:txBody>
      </p:sp>
      <p:sp>
        <p:nvSpPr>
          <p:cNvPr id="5" name="TextBox 4"/>
          <p:cNvSpPr txBox="1"/>
          <p:nvPr/>
        </p:nvSpPr>
        <p:spPr>
          <a:xfrm flipH="1">
            <a:off x="255494" y="493906"/>
            <a:ext cx="11793071" cy="923330"/>
          </a:xfrm>
          <a:prstGeom prst="rect">
            <a:avLst/>
          </a:prstGeom>
          <a:noFill/>
        </p:spPr>
        <p:txBody>
          <a:bodyPr wrap="square" rtlCol="0">
            <a:spAutoFit/>
          </a:bodyPr>
          <a:lstStyle/>
          <a:p>
            <a:r>
              <a:rPr lang="en-US" b="1" dirty="0"/>
              <a:t>I chose this chart because it clearly compares the number of guests across different countries, making it easy to see which countries bring more or fewer guests. It provides a simple and direct visual comparison for better understanding</a:t>
            </a:r>
            <a:r>
              <a:rPr lang="en-US" dirty="0"/>
              <a:t>.</a:t>
            </a:r>
          </a:p>
          <a:p>
            <a:endParaRPr lang="en-IN" dirty="0"/>
          </a:p>
        </p:txBody>
      </p:sp>
      <p:sp>
        <p:nvSpPr>
          <p:cNvPr id="6" name="Oval 5"/>
          <p:cNvSpPr/>
          <p:nvPr/>
        </p:nvSpPr>
        <p:spPr>
          <a:xfrm>
            <a:off x="143435" y="224943"/>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
        <p:nvSpPr>
          <p:cNvPr id="8" name="TextBox 7"/>
          <p:cNvSpPr txBox="1"/>
          <p:nvPr/>
        </p:nvSpPr>
        <p:spPr>
          <a:xfrm>
            <a:off x="255494" y="1453095"/>
            <a:ext cx="8516470" cy="369332"/>
          </a:xfrm>
          <a:prstGeom prst="rect">
            <a:avLst/>
          </a:prstGeom>
          <a:noFill/>
        </p:spPr>
        <p:txBody>
          <a:bodyPr wrap="square" rtlCol="0">
            <a:spAutoFit/>
          </a:bodyPr>
          <a:lstStyle/>
          <a:p>
            <a:r>
              <a:rPr lang="en-US" b="1" dirty="0">
                <a:latin typeface="Arial Black" panose="020B0A04020102020204" charset="0"/>
              </a:rPr>
              <a:t>What is/are the insight(s) found from the chart ?</a:t>
            </a:r>
            <a:endParaRPr lang="en-IN" dirty="0"/>
          </a:p>
        </p:txBody>
      </p:sp>
      <p:sp>
        <p:nvSpPr>
          <p:cNvPr id="9" name="TextBox 8"/>
          <p:cNvSpPr txBox="1"/>
          <p:nvPr/>
        </p:nvSpPr>
        <p:spPr>
          <a:xfrm>
            <a:off x="345141" y="1812531"/>
            <a:ext cx="10318376" cy="923330"/>
          </a:xfrm>
          <a:prstGeom prst="rect">
            <a:avLst/>
          </a:prstGeom>
          <a:noFill/>
        </p:spPr>
        <p:txBody>
          <a:bodyPr wrap="square" rtlCol="0">
            <a:spAutoFit/>
          </a:bodyPr>
          <a:lstStyle/>
          <a:p>
            <a:r>
              <a:rPr lang="en-US" b="1" dirty="0"/>
              <a:t>The chart shows that the number of guests varies significantly across countries, with some countries contributing a much higher(like PRT,GBR)  guest count than others. This helps identify the top guest-origin countries and those with low guest inflow.</a:t>
            </a:r>
            <a:endParaRPr lang="en-IN" b="1" dirty="0"/>
          </a:p>
        </p:txBody>
      </p:sp>
      <p:sp>
        <p:nvSpPr>
          <p:cNvPr id="10" name="TextBox 9"/>
          <p:cNvSpPr txBox="1"/>
          <p:nvPr/>
        </p:nvSpPr>
        <p:spPr>
          <a:xfrm>
            <a:off x="246529" y="3200095"/>
            <a:ext cx="10515600" cy="923330"/>
          </a:xfrm>
          <a:prstGeom prst="rect">
            <a:avLst/>
          </a:prstGeom>
          <a:noFill/>
        </p:spPr>
        <p:txBody>
          <a:bodyPr wrap="square" rtlCol="0">
            <a:spAutoFit/>
          </a:bodyPr>
          <a:lstStyle/>
          <a:p>
            <a:r>
              <a:rPr lang="en-US" b="1" dirty="0">
                <a:latin typeface="Arial Black" panose="020B0A04020102020204" charset="0"/>
              </a:rPr>
              <a:t>Will the gained insights help creating a positive business impact?</a:t>
            </a:r>
          </a:p>
          <a:p>
            <a:r>
              <a:rPr lang="en-US" b="1" dirty="0">
                <a:latin typeface="Arial Black" panose="020B0A04020102020204" charset="0"/>
              </a:rPr>
              <a:t>Are there any insights that lead to negative growth? Justify with specific reason</a:t>
            </a:r>
            <a:endParaRPr lang="en-IN" dirty="0"/>
          </a:p>
          <a:p>
            <a:endParaRPr lang="en-IN" dirty="0"/>
          </a:p>
        </p:txBody>
      </p:sp>
      <p:sp>
        <p:nvSpPr>
          <p:cNvPr id="11" name="TextBox 10"/>
          <p:cNvSpPr txBox="1"/>
          <p:nvPr/>
        </p:nvSpPr>
        <p:spPr>
          <a:xfrm>
            <a:off x="461682" y="3872389"/>
            <a:ext cx="11062447" cy="2031325"/>
          </a:xfrm>
          <a:prstGeom prst="rect">
            <a:avLst/>
          </a:prstGeom>
          <a:noFill/>
        </p:spPr>
        <p:txBody>
          <a:bodyPr wrap="square" rtlCol="0">
            <a:spAutoFit/>
          </a:bodyPr>
          <a:lstStyle/>
          <a:p>
            <a:r>
              <a:rPr lang="en-US" b="1" dirty="0"/>
              <a:t>Yes.</a:t>
            </a:r>
            <a:br>
              <a:rPr lang="en-US" b="1" dirty="0"/>
            </a:br>
            <a:r>
              <a:rPr lang="en-US" b="1" dirty="0"/>
              <a:t>Knowing which countries contribute the most guests helps the hotel focus its marketing, promotions, and partnerships on high-performing countries, which can increase bookings and improve revenue.</a:t>
            </a:r>
          </a:p>
          <a:p>
            <a:endParaRPr lang="en-US" b="1" dirty="0"/>
          </a:p>
          <a:p>
            <a:r>
              <a:rPr lang="en-US" b="1" dirty="0"/>
              <a:t>Countries with very low guest counts indicate weak market presence. If not improved, this can lead to missed opportunities, low international reach, and slower business growth, as the hotel is not attracting guests from those regions.</a:t>
            </a:r>
            <a:endParaRPr lang="en-IN" b="1" dirty="0"/>
          </a:p>
        </p:txBody>
      </p:sp>
      <p:sp>
        <p:nvSpPr>
          <p:cNvPr id="12" name="Oval 11"/>
          <p:cNvSpPr/>
          <p:nvPr/>
        </p:nvSpPr>
        <p:spPr>
          <a:xfrm>
            <a:off x="147917" y="1565513"/>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
        <p:nvSpPr>
          <p:cNvPr id="13" name="Oval 12"/>
          <p:cNvSpPr/>
          <p:nvPr/>
        </p:nvSpPr>
        <p:spPr>
          <a:xfrm>
            <a:off x="143435" y="3330259"/>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0329" y="233083"/>
            <a:ext cx="7234517" cy="369332"/>
          </a:xfrm>
          <a:prstGeom prst="rect">
            <a:avLst/>
          </a:prstGeom>
          <a:noFill/>
        </p:spPr>
        <p:txBody>
          <a:bodyPr wrap="square" rtlCol="0">
            <a:spAutoFit/>
          </a:bodyPr>
          <a:lstStyle/>
          <a:p>
            <a:r>
              <a:rPr lang="en-IN" b="1" dirty="0">
                <a:latin typeface="Arial Black" panose="020B0A04020102020204" charset="0"/>
              </a:rPr>
              <a:t>Which Hotel Type have more Repeated Booking ? </a:t>
            </a:r>
          </a:p>
        </p:txBody>
      </p:sp>
      <p:sp>
        <p:nvSpPr>
          <p:cNvPr id="5" name="Oval 4"/>
          <p:cNvSpPr/>
          <p:nvPr/>
        </p:nvSpPr>
        <p:spPr>
          <a:xfrm>
            <a:off x="114299" y="368378"/>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pic>
        <p:nvPicPr>
          <p:cNvPr id="6" name="Picture 5"/>
          <p:cNvPicPr>
            <a:picLocks noChangeAspect="1"/>
          </p:cNvPicPr>
          <p:nvPr/>
        </p:nvPicPr>
        <p:blipFill>
          <a:blip r:embed="rId2"/>
          <a:stretch>
            <a:fillRect/>
          </a:stretch>
        </p:blipFill>
        <p:spPr>
          <a:xfrm>
            <a:off x="2214919" y="1242253"/>
            <a:ext cx="7256032" cy="353593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5970" y="171495"/>
            <a:ext cx="9197788" cy="369332"/>
          </a:xfrm>
          <a:prstGeom prst="rect">
            <a:avLst/>
          </a:prstGeom>
          <a:noFill/>
        </p:spPr>
        <p:txBody>
          <a:bodyPr wrap="square" rtlCol="0">
            <a:spAutoFit/>
          </a:bodyPr>
          <a:lstStyle/>
          <a:p>
            <a:r>
              <a:rPr lang="en-US" b="1" dirty="0">
                <a:latin typeface="Arial Black" panose="020B0A04020102020204" charset="0"/>
              </a:rPr>
              <a:t>Why did you pick the specific chart?</a:t>
            </a:r>
          </a:p>
        </p:txBody>
      </p:sp>
      <p:sp>
        <p:nvSpPr>
          <p:cNvPr id="5" name="TextBox 4"/>
          <p:cNvSpPr txBox="1"/>
          <p:nvPr/>
        </p:nvSpPr>
        <p:spPr>
          <a:xfrm>
            <a:off x="328612" y="584581"/>
            <a:ext cx="11534775" cy="646331"/>
          </a:xfrm>
          <a:prstGeom prst="rect">
            <a:avLst/>
          </a:prstGeom>
          <a:noFill/>
        </p:spPr>
        <p:txBody>
          <a:bodyPr wrap="square" rtlCol="0">
            <a:spAutoFit/>
          </a:bodyPr>
          <a:lstStyle/>
          <a:p>
            <a:r>
              <a:rPr lang="en-US" b="1" dirty="0"/>
              <a:t>I chose a Pie Chart because it clearly shows the proportion of repeated guests for each hotel type. It gives a quick, simple visual understanding of which hotel has a higher share of returning customers.</a:t>
            </a:r>
            <a:endParaRPr lang="en-IN" b="1" dirty="0"/>
          </a:p>
        </p:txBody>
      </p:sp>
      <p:sp>
        <p:nvSpPr>
          <p:cNvPr id="6" name="TextBox 5"/>
          <p:cNvSpPr txBox="1"/>
          <p:nvPr/>
        </p:nvSpPr>
        <p:spPr>
          <a:xfrm>
            <a:off x="245969" y="1707962"/>
            <a:ext cx="9744075" cy="646331"/>
          </a:xfrm>
          <a:prstGeom prst="rect">
            <a:avLst/>
          </a:prstGeom>
          <a:noFill/>
        </p:spPr>
        <p:txBody>
          <a:bodyPr wrap="square" rtlCol="0">
            <a:spAutoFit/>
          </a:bodyPr>
          <a:lstStyle/>
          <a:p>
            <a:r>
              <a:rPr lang="en-US" b="1" dirty="0">
                <a:latin typeface="Arial Black" panose="020B0A04020102020204" charset="0"/>
              </a:rPr>
              <a:t>What is/are the insight(s) found from the chart ?</a:t>
            </a:r>
            <a:endParaRPr lang="en-IN" dirty="0"/>
          </a:p>
          <a:p>
            <a:endParaRPr lang="en-IN" dirty="0"/>
          </a:p>
        </p:txBody>
      </p:sp>
      <p:sp>
        <p:nvSpPr>
          <p:cNvPr id="8" name="Rectangle 7"/>
          <p:cNvSpPr/>
          <p:nvPr/>
        </p:nvSpPr>
        <p:spPr>
          <a:xfrm>
            <a:off x="328612" y="2063054"/>
            <a:ext cx="10420350" cy="1477328"/>
          </a:xfrm>
          <a:prstGeom prst="rect">
            <a:avLst/>
          </a:prstGeom>
        </p:spPr>
        <p:txBody>
          <a:bodyPr wrap="square">
            <a:spAutoFit/>
          </a:bodyPr>
          <a:lstStyle/>
          <a:p>
            <a:r>
              <a:rPr lang="en-US" b="1" dirty="0"/>
              <a:t>The chart shows that City Hotel has more repeated guests (2032 → 53.33%) compared to Resort Hotel (1778 → 46.67%). This means City Hotel has slightly stronger customer loyalty and returning guest rate.</a:t>
            </a:r>
            <a:r>
              <a:rPr lang="en-US" b="1" dirty="0">
                <a:solidFill>
                  <a:srgbClr val="FFFFFF"/>
                </a:solidFill>
                <a:latin typeface="Segoe UI Variable Text" pitchFamily="2" charset="0"/>
              </a:rPr>
              <a:t> chart shows that City Hotel has more repeated guests (2032 → 53.33%) compared to</a:t>
            </a:r>
            <a:r>
              <a:rPr lang="en-US" dirty="0">
                <a:solidFill>
                  <a:srgbClr val="FFFFFF"/>
                </a:solidFill>
                <a:latin typeface="Segoe UI Variable Text" pitchFamily="2" charset="0"/>
              </a:rPr>
              <a:t> </a:t>
            </a:r>
            <a:r>
              <a:rPr lang="en-US" b="1" dirty="0">
                <a:solidFill>
                  <a:srgbClr val="FFFFFF"/>
                </a:solidFill>
                <a:latin typeface="Segoe UI Variable Text" pitchFamily="2" charset="0"/>
              </a:rPr>
              <a:t>Resort Hotel (1778 → 46.67%)</a:t>
            </a:r>
            <a:r>
              <a:rPr lang="en-US" dirty="0">
                <a:solidFill>
                  <a:srgbClr val="FFFFFF"/>
                </a:solidFill>
                <a:latin typeface="Segoe UI Variable Text" pitchFamily="2" charset="0"/>
              </a:rPr>
              <a:t>. This means City Hotel has slightly stronger customer loyalty and returning guest rate.</a:t>
            </a:r>
            <a:endParaRPr lang="en-IN" dirty="0"/>
          </a:p>
        </p:txBody>
      </p:sp>
      <p:sp>
        <p:nvSpPr>
          <p:cNvPr id="9" name="TextBox 8"/>
          <p:cNvSpPr txBox="1"/>
          <p:nvPr/>
        </p:nvSpPr>
        <p:spPr>
          <a:xfrm>
            <a:off x="245970" y="3174607"/>
            <a:ext cx="12820650" cy="646331"/>
          </a:xfrm>
          <a:prstGeom prst="rect">
            <a:avLst/>
          </a:prstGeom>
          <a:noFill/>
        </p:spPr>
        <p:txBody>
          <a:bodyPr wrap="square" rtlCol="0">
            <a:spAutoFit/>
          </a:bodyPr>
          <a:lstStyle/>
          <a:p>
            <a:r>
              <a:rPr lang="en-US" b="1" dirty="0">
                <a:latin typeface="Arial Black" panose="020B0A04020102020204" charset="0"/>
              </a:rPr>
              <a:t>Will the gained insights help creating a positive business impact?</a:t>
            </a:r>
          </a:p>
          <a:p>
            <a:r>
              <a:rPr lang="en-US" b="1" dirty="0">
                <a:latin typeface="Arial Black" panose="020B0A04020102020204" charset="0"/>
              </a:rPr>
              <a:t>Are there any insights that lead to negative growth? Justify with specific reason</a:t>
            </a:r>
            <a:endParaRPr lang="en-IN" dirty="0"/>
          </a:p>
        </p:txBody>
      </p:sp>
      <p:sp>
        <p:nvSpPr>
          <p:cNvPr id="10" name="TextBox 9"/>
          <p:cNvSpPr txBox="1"/>
          <p:nvPr/>
        </p:nvSpPr>
        <p:spPr>
          <a:xfrm flipH="1">
            <a:off x="398144" y="3955701"/>
            <a:ext cx="7907656" cy="2308324"/>
          </a:xfrm>
          <a:prstGeom prst="rect">
            <a:avLst/>
          </a:prstGeom>
          <a:noFill/>
        </p:spPr>
        <p:txBody>
          <a:bodyPr wrap="square" rtlCol="0">
            <a:spAutoFit/>
          </a:bodyPr>
          <a:lstStyle/>
          <a:p>
            <a:r>
              <a:rPr lang="en-US" b="1" dirty="0"/>
              <a:t>Yes.</a:t>
            </a:r>
            <a:br>
              <a:rPr lang="en-US" b="1" dirty="0"/>
            </a:br>
            <a:r>
              <a:rPr lang="en-US" b="1" dirty="0"/>
              <a:t>City Hotel has more repeated guests (53.33%), which shows stronger customer loyalty. This helps the business focus on improving loyalty programs and enhancing services to maintain and grow repeat customers.</a:t>
            </a:r>
          </a:p>
          <a:p>
            <a:endParaRPr lang="en-US" b="1" dirty="0"/>
          </a:p>
          <a:p>
            <a:r>
              <a:rPr lang="en-US" b="1" dirty="0"/>
              <a:t>Resort Hotel has fewer repeated guests (46.67%), which may indicate lower satisfaction or weaker guest experience. If not improved, this can reduce future bookings and lead to negative growth.</a:t>
            </a:r>
            <a:endParaRPr lang="en-IN" b="1" dirty="0"/>
          </a:p>
        </p:txBody>
      </p:sp>
      <p:sp>
        <p:nvSpPr>
          <p:cNvPr id="11" name="Oval 10"/>
          <p:cNvSpPr/>
          <p:nvPr/>
        </p:nvSpPr>
        <p:spPr>
          <a:xfrm>
            <a:off x="133911" y="306790"/>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
        <p:nvSpPr>
          <p:cNvPr id="12" name="Oval 11"/>
          <p:cNvSpPr/>
          <p:nvPr/>
        </p:nvSpPr>
        <p:spPr>
          <a:xfrm>
            <a:off x="133910" y="1824342"/>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
        <p:nvSpPr>
          <p:cNvPr id="13" name="Oval 12"/>
          <p:cNvSpPr/>
          <p:nvPr/>
        </p:nvSpPr>
        <p:spPr>
          <a:xfrm>
            <a:off x="133910" y="3305339"/>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9550" y="249793"/>
            <a:ext cx="10953750" cy="369332"/>
          </a:xfrm>
          <a:prstGeom prst="rect">
            <a:avLst/>
          </a:prstGeom>
          <a:noFill/>
        </p:spPr>
        <p:txBody>
          <a:bodyPr wrap="square" rtlCol="0">
            <a:spAutoFit/>
          </a:bodyPr>
          <a:lstStyle/>
          <a:p>
            <a:r>
              <a:rPr lang="en-IN" b="1" dirty="0">
                <a:latin typeface="Arial Black" panose="020B0A04020102020204" charset="0"/>
              </a:rPr>
              <a:t>How  Meal &amp;  Bookings are Correlated  ?</a:t>
            </a:r>
          </a:p>
        </p:txBody>
      </p:sp>
      <p:pic>
        <p:nvPicPr>
          <p:cNvPr id="5" name="Picture 4"/>
          <p:cNvPicPr>
            <a:picLocks noChangeAspect="1"/>
          </p:cNvPicPr>
          <p:nvPr/>
        </p:nvPicPr>
        <p:blipFill>
          <a:blip r:embed="rId2"/>
          <a:stretch>
            <a:fillRect/>
          </a:stretch>
        </p:blipFill>
        <p:spPr>
          <a:xfrm>
            <a:off x="2666529" y="1196643"/>
            <a:ext cx="6011306" cy="3517254"/>
          </a:xfrm>
          <a:prstGeom prst="rect">
            <a:avLst/>
          </a:prstGeom>
        </p:spPr>
      </p:pic>
      <p:sp>
        <p:nvSpPr>
          <p:cNvPr id="6" name="Oval 5"/>
          <p:cNvSpPr/>
          <p:nvPr/>
        </p:nvSpPr>
        <p:spPr>
          <a:xfrm>
            <a:off x="97491" y="385088"/>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0025" y="176212"/>
            <a:ext cx="8839200" cy="369332"/>
          </a:xfrm>
          <a:prstGeom prst="rect">
            <a:avLst/>
          </a:prstGeom>
          <a:noFill/>
        </p:spPr>
        <p:txBody>
          <a:bodyPr wrap="square" rtlCol="0">
            <a:spAutoFit/>
          </a:bodyPr>
          <a:lstStyle/>
          <a:p>
            <a:r>
              <a:rPr lang="en-US" b="1">
                <a:latin typeface="Arial Black" panose="020B0A04020102020204" charset="0"/>
              </a:rPr>
              <a:t>Why did you pick the specific chart?</a:t>
            </a:r>
            <a:endParaRPr lang="en-US" b="1" dirty="0">
              <a:latin typeface="Arial Black" panose="020B0A04020102020204" charset="0"/>
            </a:endParaRPr>
          </a:p>
        </p:txBody>
      </p:sp>
      <p:sp>
        <p:nvSpPr>
          <p:cNvPr id="3" name="TextBox 2"/>
          <p:cNvSpPr txBox="1"/>
          <p:nvPr/>
        </p:nvSpPr>
        <p:spPr>
          <a:xfrm>
            <a:off x="295275" y="545544"/>
            <a:ext cx="11896725" cy="923330"/>
          </a:xfrm>
          <a:prstGeom prst="rect">
            <a:avLst/>
          </a:prstGeom>
          <a:noFill/>
        </p:spPr>
        <p:txBody>
          <a:bodyPr wrap="square" rtlCol="0">
            <a:spAutoFit/>
          </a:bodyPr>
          <a:lstStyle/>
          <a:p>
            <a:r>
              <a:rPr lang="en-US" b="1" dirty="0"/>
              <a:t>I selected a horizontal bar chart because it clearly compares the total bookings across different meal types. Since meal categories are text labels (BB, HB, SC, etc.), the bar chart makes it easy to see which meal has the highest and lowest bookings. The length of the bars provides a quick and simple visual comparison, making insights easy to interpret.</a:t>
            </a:r>
            <a:endParaRPr lang="en-IN" b="1" dirty="0"/>
          </a:p>
        </p:txBody>
      </p:sp>
      <p:sp>
        <p:nvSpPr>
          <p:cNvPr id="6" name="TextBox 5"/>
          <p:cNvSpPr txBox="1"/>
          <p:nvPr/>
        </p:nvSpPr>
        <p:spPr>
          <a:xfrm>
            <a:off x="200025" y="1607227"/>
            <a:ext cx="8505825" cy="647700"/>
          </a:xfrm>
          <a:prstGeom prst="rect">
            <a:avLst/>
          </a:prstGeom>
          <a:noFill/>
        </p:spPr>
        <p:txBody>
          <a:bodyPr wrap="square" rtlCol="0">
            <a:spAutoFit/>
          </a:bodyPr>
          <a:lstStyle/>
          <a:p>
            <a:r>
              <a:rPr lang="en-US" b="1" dirty="0">
                <a:latin typeface="Arial Black" panose="020B0A04020102020204" charset="0"/>
              </a:rPr>
              <a:t>What is/are the insight(s) found from the chart ?</a:t>
            </a:r>
            <a:endParaRPr lang="en-IN" dirty="0"/>
          </a:p>
          <a:p>
            <a:endParaRPr lang="en-IN" dirty="0"/>
          </a:p>
        </p:txBody>
      </p:sp>
      <p:sp>
        <p:nvSpPr>
          <p:cNvPr id="10" name="Rectangle 2"/>
          <p:cNvSpPr>
            <a:spLocks noChangeArrowheads="1"/>
          </p:cNvSpPr>
          <p:nvPr/>
        </p:nvSpPr>
        <p:spPr bwMode="auto">
          <a:xfrm>
            <a:off x="371475" y="2040376"/>
            <a:ext cx="1189672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Arial" panose="020B0604020202020204" pitchFamily="34" charset="0"/>
              </a:rPr>
              <a:t>HB (Half Board) has 14K bookings, showing moderate preference.</a:t>
            </a: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SC (Self Catering) has 11K bookings.</a:t>
            </a: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FB (Full Board) and Undefined meals have very low bookings (around 1K).</a:t>
            </a: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BB (Bed &amp; Breakfast) has the highest bookings with 92K, making it the most preferred meal type</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13" name="TextBox 12"/>
          <p:cNvSpPr txBox="1"/>
          <p:nvPr/>
        </p:nvSpPr>
        <p:spPr>
          <a:xfrm>
            <a:off x="209550" y="4279908"/>
            <a:ext cx="11029950" cy="646331"/>
          </a:xfrm>
          <a:prstGeom prst="rect">
            <a:avLst/>
          </a:prstGeom>
          <a:noFill/>
        </p:spPr>
        <p:txBody>
          <a:bodyPr wrap="square" rtlCol="0">
            <a:spAutoFit/>
          </a:bodyPr>
          <a:lstStyle/>
          <a:p>
            <a:r>
              <a:rPr lang="en-US" b="1">
                <a:latin typeface="Arial Black" panose="020B0A04020102020204" charset="0"/>
              </a:rPr>
              <a:t>Will the gained insights help creating a positive business impact?</a:t>
            </a:r>
          </a:p>
          <a:p>
            <a:r>
              <a:rPr lang="en-US" b="1">
                <a:latin typeface="Arial Black" panose="020B0A04020102020204" charset="0"/>
              </a:rPr>
              <a:t>Are there any insights that lead to negative growth? Justify with specific reason</a:t>
            </a:r>
            <a:endParaRPr lang="en-IN" dirty="0"/>
          </a:p>
        </p:txBody>
      </p:sp>
      <p:sp>
        <p:nvSpPr>
          <p:cNvPr id="14" name="TextBox 13"/>
          <p:cNvSpPr txBox="1"/>
          <p:nvPr/>
        </p:nvSpPr>
        <p:spPr>
          <a:xfrm>
            <a:off x="371475" y="4937578"/>
            <a:ext cx="10706100" cy="1200329"/>
          </a:xfrm>
          <a:prstGeom prst="rect">
            <a:avLst/>
          </a:prstGeom>
          <a:noFill/>
        </p:spPr>
        <p:txBody>
          <a:bodyPr wrap="square" rtlCol="0">
            <a:spAutoFit/>
          </a:bodyPr>
          <a:lstStyle/>
          <a:p>
            <a:r>
              <a:rPr lang="en-US" b="1" dirty="0"/>
              <a:t>Yes.</a:t>
            </a:r>
            <a:br>
              <a:rPr lang="en-US" b="1" dirty="0"/>
            </a:br>
            <a:r>
              <a:rPr lang="en-US" b="1" dirty="0"/>
              <a:t>Hotels can focus more on BB meal plans, as they clearly attract the highest number of guests.</a:t>
            </a:r>
          </a:p>
          <a:p>
            <a:r>
              <a:rPr lang="en-US" b="1" dirty="0"/>
              <a:t>Low demand for FB means the hotel may be over-spending on full-board meal preparation that guests aren’t choosing.</a:t>
            </a:r>
          </a:p>
        </p:txBody>
      </p:sp>
      <p:sp>
        <p:nvSpPr>
          <p:cNvPr id="15" name="Oval 14"/>
          <p:cNvSpPr/>
          <p:nvPr/>
        </p:nvSpPr>
        <p:spPr>
          <a:xfrm>
            <a:off x="97491" y="311507"/>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
        <p:nvSpPr>
          <p:cNvPr id="16" name="Oval 15"/>
          <p:cNvSpPr/>
          <p:nvPr/>
        </p:nvSpPr>
        <p:spPr>
          <a:xfrm>
            <a:off x="97490" y="1726015"/>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
        <p:nvSpPr>
          <p:cNvPr id="17" name="Oval 16"/>
          <p:cNvSpPr/>
          <p:nvPr/>
        </p:nvSpPr>
        <p:spPr>
          <a:xfrm>
            <a:off x="97490" y="4393015"/>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467384" y="1210897"/>
            <a:ext cx="6742879" cy="4436205"/>
          </a:xfrm>
          <a:prstGeom prst="rect">
            <a:avLst/>
          </a:prstGeom>
        </p:spPr>
      </p:pic>
      <p:sp>
        <p:nvSpPr>
          <p:cNvPr id="4" name="TextBox 3"/>
          <p:cNvSpPr txBox="1"/>
          <p:nvPr/>
        </p:nvSpPr>
        <p:spPr>
          <a:xfrm>
            <a:off x="295274" y="183118"/>
            <a:ext cx="5543550" cy="369332"/>
          </a:xfrm>
          <a:prstGeom prst="rect">
            <a:avLst/>
          </a:prstGeom>
          <a:noFill/>
        </p:spPr>
        <p:txBody>
          <a:bodyPr wrap="square" rtlCol="0">
            <a:spAutoFit/>
          </a:bodyPr>
          <a:lstStyle/>
          <a:p>
            <a:r>
              <a:rPr lang="en-IN" b="1" dirty="0">
                <a:latin typeface="Arial Black" panose="020B0A04020102020204" charset="0"/>
              </a:rPr>
              <a:t>What is Month Wise Booking ?</a:t>
            </a:r>
          </a:p>
        </p:txBody>
      </p:sp>
      <p:sp>
        <p:nvSpPr>
          <p:cNvPr id="5" name="Oval 4"/>
          <p:cNvSpPr/>
          <p:nvPr/>
        </p:nvSpPr>
        <p:spPr>
          <a:xfrm>
            <a:off x="183215" y="318413"/>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dirty="0"/>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494" y="98611"/>
            <a:ext cx="80234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Why did you pick the specific chart?</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p:cNvSpPr txBox="1"/>
          <p:nvPr/>
        </p:nvSpPr>
        <p:spPr>
          <a:xfrm flipH="1">
            <a:off x="255494" y="509015"/>
            <a:ext cx="11793071" cy="646331"/>
          </a:xfrm>
          <a:prstGeom prst="rect">
            <a:avLst/>
          </a:prstGeom>
          <a:noFill/>
        </p:spPr>
        <p:txBody>
          <a:bodyPr wrap="square" rtlCol="0">
            <a:spAutoFit/>
          </a:bodyPr>
          <a:lstStyle/>
          <a:p>
            <a:pPr lvl="0"/>
            <a:r>
              <a:rPr lang="en-US" b="1" dirty="0"/>
              <a:t>I chose a bar chart because it clearly compares the number of bookings across all 12 months.</a:t>
            </a:r>
            <a:br>
              <a:rPr lang="en-US" b="1" dirty="0"/>
            </a:br>
            <a:r>
              <a:rPr lang="en-US" b="1" dirty="0"/>
              <a:t>It makes month-to-month variation easy to see and helps identify peak and low-demand periods quickly.</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Oval 5"/>
          <p:cNvSpPr/>
          <p:nvPr/>
        </p:nvSpPr>
        <p:spPr>
          <a:xfrm>
            <a:off x="143435" y="224943"/>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8" name="TextBox 7"/>
          <p:cNvSpPr txBox="1"/>
          <p:nvPr/>
        </p:nvSpPr>
        <p:spPr>
          <a:xfrm>
            <a:off x="255494" y="1453095"/>
            <a:ext cx="851647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What is/are the insight(s) found from the chart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Box 8"/>
          <p:cNvSpPr txBox="1"/>
          <p:nvPr/>
        </p:nvSpPr>
        <p:spPr>
          <a:xfrm>
            <a:off x="443753" y="1763954"/>
            <a:ext cx="10318376" cy="1754326"/>
          </a:xfrm>
          <a:prstGeom prst="rect">
            <a:avLst/>
          </a:prstGeom>
          <a:noFill/>
        </p:spPr>
        <p:txBody>
          <a:bodyPr wrap="square" rtlCol="0">
            <a:spAutoFit/>
          </a:bodyPr>
          <a:lstStyle/>
          <a:p>
            <a:r>
              <a:rPr lang="en-US" b="1" dirty="0"/>
              <a:t>From the chart:</a:t>
            </a:r>
          </a:p>
          <a:p>
            <a:r>
              <a:rPr lang="en-US" b="1" dirty="0"/>
              <a:t>  August has the highest bookings (~14K).</a:t>
            </a:r>
          </a:p>
          <a:p>
            <a:r>
              <a:rPr lang="en-US" b="1" dirty="0"/>
              <a:t>  July, May, October, September also show strong performance (10K – 13K).</a:t>
            </a:r>
          </a:p>
          <a:p>
            <a:r>
              <a:rPr lang="en-US" b="1" dirty="0"/>
              <a:t>  January and December have the lowest bookings (~6K – 7K).</a:t>
            </a:r>
          </a:p>
          <a:p>
            <a:r>
              <a:rPr lang="en-US" b="1" dirty="0"/>
              <a:t>  Bookings gradually increase from Jan → Aug, then drop towards Nov–Dec.</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p:cNvSpPr txBox="1"/>
          <p:nvPr/>
        </p:nvSpPr>
        <p:spPr>
          <a:xfrm>
            <a:off x="255494" y="3596959"/>
            <a:ext cx="10515600"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Will the gained insights help creating a positive business impact?</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Are there any insights that lead to negative growth? Justify with specific reason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p:cNvSpPr txBox="1"/>
          <p:nvPr/>
        </p:nvSpPr>
        <p:spPr>
          <a:xfrm>
            <a:off x="358028" y="4358453"/>
            <a:ext cx="11062447" cy="1200329"/>
          </a:xfrm>
          <a:prstGeom prst="rect">
            <a:avLst/>
          </a:prstGeom>
          <a:noFill/>
        </p:spPr>
        <p:txBody>
          <a:bodyPr wrap="square" rtlCol="0">
            <a:spAutoFit/>
          </a:bodyPr>
          <a:lstStyle/>
          <a:p>
            <a:pPr lvl="0"/>
            <a:r>
              <a:rPr lang="en-US" b="1" dirty="0"/>
              <a:t>Yes, they help the hotel plan staffing, pricing, and marketing strategies based on peak and off-peak months. </a:t>
            </a:r>
          </a:p>
          <a:p>
            <a:r>
              <a:rPr lang="en-US" b="1" dirty="0"/>
              <a:t>the drop in bookings during January and December indicates revenue loss due to off-season demand, which negatively impacts business.</a:t>
            </a:r>
          </a:p>
          <a:p>
            <a:pPr lvl="0"/>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Oval 11"/>
          <p:cNvSpPr/>
          <p:nvPr/>
        </p:nvSpPr>
        <p:spPr>
          <a:xfrm>
            <a:off x="147917" y="1565513"/>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 name="Oval 12"/>
          <p:cNvSpPr/>
          <p:nvPr/>
        </p:nvSpPr>
        <p:spPr>
          <a:xfrm flipV="1">
            <a:off x="143435" y="3714750"/>
            <a:ext cx="112059" cy="987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067191" y="892174"/>
            <a:ext cx="7542973" cy="4553685"/>
          </a:xfrm>
          <a:prstGeom prst="rect">
            <a:avLst/>
          </a:prstGeom>
        </p:spPr>
      </p:pic>
      <p:sp>
        <p:nvSpPr>
          <p:cNvPr id="4" name="TextBox 3"/>
          <p:cNvSpPr txBox="1"/>
          <p:nvPr/>
        </p:nvSpPr>
        <p:spPr>
          <a:xfrm flipH="1">
            <a:off x="179068" y="190500"/>
            <a:ext cx="9736456" cy="369332"/>
          </a:xfrm>
          <a:prstGeom prst="rect">
            <a:avLst/>
          </a:prstGeom>
          <a:noFill/>
        </p:spPr>
        <p:txBody>
          <a:bodyPr wrap="square" rtlCol="0">
            <a:spAutoFit/>
          </a:bodyPr>
          <a:lstStyle/>
          <a:p>
            <a:r>
              <a:rPr lang="en-IN" b="1" dirty="0">
                <a:latin typeface="Arial Black" panose="020B0A04020102020204" charset="0"/>
              </a:rPr>
              <a:t>What is </a:t>
            </a:r>
            <a:r>
              <a:rPr lang="en-IN" b="1" dirty="0" err="1">
                <a:latin typeface="Arial Black" panose="020B0A04020102020204" charset="0"/>
              </a:rPr>
              <a:t>Avg</a:t>
            </a:r>
            <a:r>
              <a:rPr lang="en-IN" b="1" dirty="0">
                <a:latin typeface="Arial Black" panose="020B0A04020102020204" charset="0"/>
              </a:rPr>
              <a:t> Waiting Days for Each Hotel Type ?</a:t>
            </a:r>
          </a:p>
        </p:txBody>
      </p:sp>
      <p:sp>
        <p:nvSpPr>
          <p:cNvPr id="5" name="Oval 4"/>
          <p:cNvSpPr/>
          <p:nvPr/>
        </p:nvSpPr>
        <p:spPr>
          <a:xfrm>
            <a:off x="123038" y="325795"/>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494" y="98611"/>
            <a:ext cx="80234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Why did you pick the specific chart?</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p:cNvSpPr txBox="1"/>
          <p:nvPr/>
        </p:nvSpPr>
        <p:spPr>
          <a:xfrm flipH="1">
            <a:off x="255494" y="509015"/>
            <a:ext cx="11793071" cy="923330"/>
          </a:xfrm>
          <a:prstGeom prst="rect">
            <a:avLst/>
          </a:prstGeom>
          <a:noFill/>
        </p:spPr>
        <p:txBody>
          <a:bodyPr wrap="square" rtlCol="0">
            <a:spAutoFit/>
          </a:bodyPr>
          <a:lstStyle/>
          <a:p>
            <a:pPr lvl="0"/>
            <a:r>
              <a:rPr lang="en-US" b="1" dirty="0"/>
              <a:t>I chose a Bar Chart because it clearly compares the average waiting days between City Hotel and Resort Hotel. It is simple to understand, shows the difference in values clearly, and is the best choice for comparing a numeric value across categories.</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Oval 5"/>
          <p:cNvSpPr/>
          <p:nvPr/>
        </p:nvSpPr>
        <p:spPr>
          <a:xfrm>
            <a:off x="143435" y="224943"/>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8" name="TextBox 7"/>
          <p:cNvSpPr txBox="1"/>
          <p:nvPr/>
        </p:nvSpPr>
        <p:spPr>
          <a:xfrm>
            <a:off x="228600" y="1609725"/>
            <a:ext cx="854336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What is/are the insight(s) found from the chart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p:cNvSpPr txBox="1"/>
          <p:nvPr/>
        </p:nvSpPr>
        <p:spPr>
          <a:xfrm>
            <a:off x="255494" y="3596959"/>
            <a:ext cx="10515600"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Will the gained insights help creating a positive business impact?</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Are there any insights that lead to negative growth? Justify with specific reason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p:cNvSpPr txBox="1"/>
          <p:nvPr/>
        </p:nvSpPr>
        <p:spPr>
          <a:xfrm>
            <a:off x="358028" y="4358453"/>
            <a:ext cx="11062447" cy="923330"/>
          </a:xfrm>
          <a:prstGeom prst="rect">
            <a:avLst/>
          </a:prstGeom>
          <a:noFill/>
        </p:spPr>
        <p:txBody>
          <a:bodyPr wrap="square" rtlCol="0">
            <a:spAutoFit/>
          </a:bodyPr>
          <a:lstStyle/>
          <a:p>
            <a:pPr lvl="0"/>
            <a:r>
              <a:rPr lang="en-US" b="1" dirty="0"/>
              <a:t>Yes.</a:t>
            </a:r>
            <a:br>
              <a:rPr lang="en-US" b="1" dirty="0"/>
            </a:br>
            <a:r>
              <a:rPr lang="en-US" b="1" dirty="0"/>
              <a:t>The insight helps the hotel management understand that City Hotel has higher waiting days, so they can take actions to reduce delays and improve customer satisfaction.</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Oval 11"/>
          <p:cNvSpPr/>
          <p:nvPr/>
        </p:nvSpPr>
        <p:spPr>
          <a:xfrm>
            <a:off x="163605" y="1744008"/>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 name="Oval 12"/>
          <p:cNvSpPr/>
          <p:nvPr/>
        </p:nvSpPr>
        <p:spPr>
          <a:xfrm flipV="1">
            <a:off x="143435" y="3714750"/>
            <a:ext cx="112059" cy="987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7" name="Rectangle 2"/>
          <p:cNvSpPr>
            <a:spLocks noChangeArrowheads="1"/>
          </p:cNvSpPr>
          <p:nvPr/>
        </p:nvSpPr>
        <p:spPr bwMode="auto">
          <a:xfrm>
            <a:off x="199464" y="1989541"/>
            <a:ext cx="1179307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City Hotel has a much higher average waiting time (~3.2 days) compared to Resort Hotel (~1 day).</a:t>
            </a: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This means guests booking City Hotel are waiting longer, which may signal higher demand, slower processing, or operational delays.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0025" y="30048"/>
            <a:ext cx="9105900" cy="369332"/>
          </a:xfrm>
          <a:prstGeom prst="rect">
            <a:avLst/>
          </a:prstGeom>
          <a:noFill/>
        </p:spPr>
        <p:txBody>
          <a:bodyPr wrap="square" rtlCol="0">
            <a:spAutoFit/>
          </a:bodyPr>
          <a:lstStyle/>
          <a:p>
            <a:r>
              <a:rPr lang="en-IN" b="1" dirty="0">
                <a:latin typeface="Arial Black" panose="020B0A04020102020204" charset="0"/>
              </a:rPr>
              <a:t>Which Room Type is Most Preferred By Customers during Booking ?</a:t>
            </a:r>
          </a:p>
        </p:txBody>
      </p:sp>
      <p:pic>
        <p:nvPicPr>
          <p:cNvPr id="5" name="Picture 4"/>
          <p:cNvPicPr>
            <a:picLocks noChangeAspect="1"/>
          </p:cNvPicPr>
          <p:nvPr/>
        </p:nvPicPr>
        <p:blipFill>
          <a:blip r:embed="rId2"/>
          <a:stretch>
            <a:fillRect/>
          </a:stretch>
        </p:blipFill>
        <p:spPr>
          <a:xfrm>
            <a:off x="2079535" y="808753"/>
            <a:ext cx="7629241" cy="4687245"/>
          </a:xfrm>
          <a:prstGeom prst="rect">
            <a:avLst/>
          </a:prstGeom>
        </p:spPr>
      </p:pic>
      <p:sp>
        <p:nvSpPr>
          <p:cNvPr id="6" name="Oval 5"/>
          <p:cNvSpPr/>
          <p:nvPr/>
        </p:nvSpPr>
        <p:spPr>
          <a:xfrm>
            <a:off x="99986" y="129484"/>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5969" y="202483"/>
            <a:ext cx="919778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Why did you pick the specific chart?</a:t>
            </a:r>
          </a:p>
        </p:txBody>
      </p:sp>
      <p:sp>
        <p:nvSpPr>
          <p:cNvPr id="5" name="TextBox 4"/>
          <p:cNvSpPr txBox="1"/>
          <p:nvPr/>
        </p:nvSpPr>
        <p:spPr>
          <a:xfrm>
            <a:off x="328612" y="575443"/>
            <a:ext cx="11534775" cy="923330"/>
          </a:xfrm>
          <a:prstGeom prst="rect">
            <a:avLst/>
          </a:prstGeom>
          <a:noFill/>
        </p:spPr>
        <p:txBody>
          <a:bodyPr wrap="square" rtlCol="0">
            <a:spAutoFit/>
          </a:bodyPr>
          <a:lstStyle/>
          <a:p>
            <a:r>
              <a:rPr lang="en-US" b="1" dirty="0"/>
              <a:t>I preferred a Stacked Column Chart because it clearly shows the distribution and comparison of room type counts in a single visual. It helps identify which room types are booked more or less, making the analysis easy to understand.</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p:cNvSpPr txBox="1"/>
          <p:nvPr/>
        </p:nvSpPr>
        <p:spPr>
          <a:xfrm>
            <a:off x="245969" y="1437469"/>
            <a:ext cx="974407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What is/are the insight(s) found from the chart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Box 8"/>
          <p:cNvSpPr txBox="1"/>
          <p:nvPr/>
        </p:nvSpPr>
        <p:spPr>
          <a:xfrm>
            <a:off x="328612" y="2660506"/>
            <a:ext cx="1282065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Will the gained insights help creating a positive business impact?</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Are there any insights that lead to negative growth? Justify with specific reason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Oval 10"/>
          <p:cNvSpPr/>
          <p:nvPr/>
        </p:nvSpPr>
        <p:spPr>
          <a:xfrm>
            <a:off x="133911" y="306790"/>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2" name="Oval 11"/>
          <p:cNvSpPr/>
          <p:nvPr/>
        </p:nvSpPr>
        <p:spPr>
          <a:xfrm>
            <a:off x="121862" y="1560300"/>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 name="Oval 12"/>
          <p:cNvSpPr/>
          <p:nvPr/>
        </p:nvSpPr>
        <p:spPr>
          <a:xfrm>
            <a:off x="133911" y="2813810"/>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 name="Rectangle 1"/>
          <p:cNvSpPr>
            <a:spLocks noChangeArrowheads="1"/>
          </p:cNvSpPr>
          <p:nvPr/>
        </p:nvSpPr>
        <p:spPr bwMode="auto">
          <a:xfrm>
            <a:off x="328612" y="1802473"/>
            <a:ext cx="856933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rPr>
              <a:t>This helps identify the most popular and least preferred room types.</a:t>
            </a:r>
          </a:p>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rPr>
              <a:t>Some room types have significantly higher bookings, while others have very low counts</a:t>
            </a:r>
            <a:r>
              <a:rPr kumimoji="0" lang="en-US" altLang="en-US" sz="1800" b="1" i="0" u="none" strike="noStrike" cap="none" normalizeH="0" baseline="0" dirty="0">
                <a:ln>
                  <a:noFill/>
                </a:ln>
                <a:solidFill>
                  <a:schemeClr val="tx1"/>
                </a:solidFill>
                <a:effectLst/>
                <a:latin typeface="Arial" panose="020B0604020202020204" pitchFamily="34" charset="0"/>
              </a:rPr>
              <a:t>.</a:t>
            </a:r>
          </a:p>
        </p:txBody>
      </p:sp>
      <p:sp>
        <p:nvSpPr>
          <p:cNvPr id="15" name="Rectangle 14"/>
          <p:cNvSpPr/>
          <p:nvPr/>
        </p:nvSpPr>
        <p:spPr>
          <a:xfrm>
            <a:off x="391365" y="3053963"/>
            <a:ext cx="11025188" cy="3139321"/>
          </a:xfrm>
          <a:prstGeom prst="rect">
            <a:avLst/>
          </a:prstGeom>
        </p:spPr>
        <p:txBody>
          <a:bodyPr wrap="square">
            <a:spAutoFit/>
          </a:bodyPr>
          <a:lstStyle/>
          <a:p>
            <a:br>
              <a:rPr lang="en-US" b="1" dirty="0">
                <a:cs typeface="Arial" panose="020B0604020202020204" pitchFamily="34" charset="0"/>
              </a:rPr>
            </a:br>
            <a:r>
              <a:rPr lang="en-US" b="1" dirty="0">
                <a:cs typeface="Arial" panose="020B0604020202020204" pitchFamily="34" charset="0"/>
              </a:rPr>
              <a:t>Knowing which room types are in high demand helps the hotel:</a:t>
            </a:r>
          </a:p>
          <a:p>
            <a:r>
              <a:rPr lang="en-US" b="1" dirty="0">
                <a:cs typeface="Arial" panose="020B0604020202020204" pitchFamily="34" charset="0"/>
              </a:rPr>
              <a:t>Improve availability and pricing of popular room types , Plan inventory and maintenance , Design better room packages</a:t>
            </a:r>
          </a:p>
          <a:p>
            <a:r>
              <a:rPr lang="en-US" b="1" dirty="0">
                <a:cs typeface="Arial" panose="020B0604020202020204" pitchFamily="34" charset="0"/>
              </a:rPr>
              <a:t>This directly supports business growth.</a:t>
            </a:r>
          </a:p>
          <a:p>
            <a:endParaRPr lang="en-US" b="1" dirty="0">
              <a:latin typeface="Arial" panose="020B0604020202020204" pitchFamily="34" charset="0"/>
              <a:cs typeface="Arial" panose="020B0604020202020204" pitchFamily="34" charset="0"/>
            </a:endParaRPr>
          </a:p>
          <a:p>
            <a:r>
              <a:rPr lang="en-US" b="1" dirty="0"/>
              <a:t>Room types with very low booking counts indicate:</a:t>
            </a:r>
          </a:p>
          <a:p>
            <a:r>
              <a:rPr lang="en-US" b="1" dirty="0"/>
              <a:t>Low demand</a:t>
            </a:r>
          </a:p>
          <a:p>
            <a:r>
              <a:rPr lang="en-US" b="1" dirty="0"/>
              <a:t>Possible issues in pricing, design, or availability</a:t>
            </a:r>
          </a:p>
          <a:p>
            <a:r>
              <a:rPr lang="en-US" b="1" dirty="0"/>
              <a:t>If not addressed, these room types may contribute to revenue loss and underutilization, negatively impacting growth.</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5097" y="188537"/>
            <a:ext cx="7041822" cy="369332"/>
          </a:xfrm>
          <a:prstGeom prst="rect">
            <a:avLst/>
          </a:prstGeom>
          <a:noFill/>
        </p:spPr>
        <p:txBody>
          <a:bodyPr wrap="square" rtlCol="0">
            <a:spAutoFit/>
          </a:bodyPr>
          <a:lstStyle/>
          <a:p>
            <a:r>
              <a:rPr lang="en-US" b="1" dirty="0">
                <a:latin typeface="Arial Black" panose="020B0A04020102020204" charset="0"/>
              </a:rPr>
              <a:t>What Avg Car Parking Required By Hotels ?</a:t>
            </a:r>
            <a:endParaRPr lang="en-IN" b="1" dirty="0">
              <a:latin typeface="Arial Black" panose="020B0A04020102020204" charset="0"/>
            </a:endParaRPr>
          </a:p>
        </p:txBody>
      </p:sp>
      <p:pic>
        <p:nvPicPr>
          <p:cNvPr id="4" name="Picture 3"/>
          <p:cNvPicPr>
            <a:picLocks noChangeAspect="1"/>
          </p:cNvPicPr>
          <p:nvPr/>
        </p:nvPicPr>
        <p:blipFill>
          <a:blip r:embed="rId2"/>
          <a:stretch>
            <a:fillRect/>
          </a:stretch>
        </p:blipFill>
        <p:spPr>
          <a:xfrm>
            <a:off x="1881084" y="1029465"/>
            <a:ext cx="7493028" cy="3920868"/>
          </a:xfrm>
          <a:prstGeom prst="rect">
            <a:avLst/>
          </a:prstGeom>
        </p:spPr>
      </p:pic>
      <p:sp>
        <p:nvSpPr>
          <p:cNvPr id="5" name="Oval 4"/>
          <p:cNvSpPr/>
          <p:nvPr/>
        </p:nvSpPr>
        <p:spPr>
          <a:xfrm>
            <a:off x="133038" y="323832"/>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494" y="108142"/>
            <a:ext cx="80234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Why did you pick the specific chart?</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p:cNvSpPr txBox="1"/>
          <p:nvPr/>
        </p:nvSpPr>
        <p:spPr>
          <a:xfrm flipH="1">
            <a:off x="255494" y="509015"/>
            <a:ext cx="11793071" cy="646331"/>
          </a:xfrm>
          <a:prstGeom prst="rect">
            <a:avLst/>
          </a:prstGeom>
          <a:noFill/>
        </p:spPr>
        <p:txBody>
          <a:bodyPr wrap="square" rtlCol="0">
            <a:spAutoFit/>
          </a:bodyPr>
          <a:lstStyle/>
          <a:p>
            <a:pPr lvl="0"/>
            <a:r>
              <a:rPr lang="en-US" b="1" dirty="0"/>
              <a:t>I used a Pie Chart because it clearly shows the proportion of required car parking spaces between City Hotel and Resort Hotel. It is simple and easy to compare percentage shares.</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Oval 5"/>
          <p:cNvSpPr/>
          <p:nvPr/>
        </p:nvSpPr>
        <p:spPr>
          <a:xfrm>
            <a:off x="143435" y="224943"/>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8" name="TextBox 7"/>
          <p:cNvSpPr txBox="1"/>
          <p:nvPr/>
        </p:nvSpPr>
        <p:spPr>
          <a:xfrm>
            <a:off x="255494" y="1512869"/>
            <a:ext cx="854336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What is/are the insight(s) found from the chart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p:cNvSpPr txBox="1"/>
          <p:nvPr/>
        </p:nvSpPr>
        <p:spPr>
          <a:xfrm>
            <a:off x="217787" y="2967335"/>
            <a:ext cx="10515600"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Will the gained insights help creating a positive business impact?</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Are there any insights that lead to negative growth? Justify with specific reason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Oval 11"/>
          <p:cNvSpPr/>
          <p:nvPr/>
        </p:nvSpPr>
        <p:spPr>
          <a:xfrm>
            <a:off x="143435" y="1616150"/>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 name="Oval 12"/>
          <p:cNvSpPr/>
          <p:nvPr/>
        </p:nvSpPr>
        <p:spPr>
          <a:xfrm flipV="1">
            <a:off x="143435" y="3124557"/>
            <a:ext cx="112059" cy="987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7" name="Rectangle 2"/>
          <p:cNvSpPr>
            <a:spLocks noChangeArrowheads="1"/>
          </p:cNvSpPr>
          <p:nvPr/>
        </p:nvSpPr>
        <p:spPr bwMode="auto">
          <a:xfrm>
            <a:off x="255493" y="1869178"/>
            <a:ext cx="1179307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US" b="1" dirty="0"/>
              <a:t>Resort Hotel requires 85% of car parking spaces.</a:t>
            </a:r>
          </a:p>
          <a:p>
            <a:r>
              <a:rPr lang="en-US" b="1" dirty="0"/>
              <a:t>City Hotel requires only 15%, showing very low parking demand.</a:t>
            </a:r>
          </a:p>
          <a:p>
            <a:pPr marL="0" marR="0" lvl="0" indent="0" algn="l" defTabSz="914400" rtl="0" eaLnBrk="0" fontAlgn="base" latinLnBrk="0" hangingPunct="0">
              <a:lnSpc>
                <a:spcPct val="100000"/>
              </a:lnSpc>
              <a:spcBef>
                <a:spcPct val="0"/>
              </a:spcBef>
              <a:spcAft>
                <a:spcPct val="0"/>
              </a:spcAft>
              <a:buClrTx/>
              <a:buSzTx/>
            </a:pPr>
            <a:endParaRPr kumimoji="0" lang="en-US" altLang="en-US" sz="1800" b="1" i="0" u="none" strike="noStrike" cap="none" normalizeH="0" baseline="0" dirty="0">
              <a:ln>
                <a:noFill/>
              </a:ln>
              <a:solidFill>
                <a:schemeClr val="tx1"/>
              </a:solidFill>
              <a:effectLst/>
              <a:latin typeface="Arial" panose="020B0604020202020204" pitchFamily="34" charset="0"/>
            </a:endParaRPr>
          </a:p>
        </p:txBody>
      </p:sp>
      <p:sp>
        <p:nvSpPr>
          <p:cNvPr id="2" name="Rectangle 1"/>
          <p:cNvSpPr>
            <a:spLocks noChangeArrowheads="1"/>
          </p:cNvSpPr>
          <p:nvPr/>
        </p:nvSpPr>
        <p:spPr bwMode="auto">
          <a:xfrm>
            <a:off x="217787" y="3673156"/>
            <a:ext cx="12192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rPr>
              <a:t>Resort Hotel can optimize and improve parking facilities based on high demand.</a:t>
            </a:r>
          </a:p>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rPr>
              <a:t>City Hotel can save costs by avoiding extra parking investment.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7391" y="0"/>
            <a:ext cx="8493550" cy="461665"/>
          </a:xfrm>
          <a:prstGeom prst="rect">
            <a:avLst/>
          </a:prstGeom>
          <a:noFill/>
        </p:spPr>
        <p:txBody>
          <a:bodyPr wrap="square" rtlCol="0">
            <a:spAutoFit/>
          </a:bodyPr>
          <a:lstStyle/>
          <a:p>
            <a:r>
              <a:rPr lang="en-US" sz="2400" b="1" dirty="0"/>
              <a:t>What Is Average Revenue(ADR) of Hotels ?</a:t>
            </a:r>
            <a:endParaRPr lang="en-IN" sz="2400" b="1" dirty="0"/>
          </a:p>
        </p:txBody>
      </p:sp>
      <p:sp>
        <p:nvSpPr>
          <p:cNvPr id="3" name="Oval 2"/>
          <p:cNvSpPr/>
          <p:nvPr/>
        </p:nvSpPr>
        <p:spPr>
          <a:xfrm>
            <a:off x="95332" y="181461"/>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pic>
        <p:nvPicPr>
          <p:cNvPr id="6" name="Picture 5"/>
          <p:cNvPicPr>
            <a:picLocks noChangeAspect="1"/>
          </p:cNvPicPr>
          <p:nvPr/>
        </p:nvPicPr>
        <p:blipFill>
          <a:blip r:embed="rId2"/>
          <a:stretch>
            <a:fillRect/>
          </a:stretch>
        </p:blipFill>
        <p:spPr>
          <a:xfrm>
            <a:off x="1666636" y="931395"/>
            <a:ext cx="8082824" cy="4519146"/>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494" y="108142"/>
            <a:ext cx="80234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Why did you pick the specific chart?</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p:cNvSpPr txBox="1"/>
          <p:nvPr/>
        </p:nvSpPr>
        <p:spPr>
          <a:xfrm flipH="1">
            <a:off x="358218" y="481664"/>
            <a:ext cx="11793071" cy="646331"/>
          </a:xfrm>
          <a:prstGeom prst="rect">
            <a:avLst/>
          </a:prstGeom>
          <a:noFill/>
        </p:spPr>
        <p:txBody>
          <a:bodyPr wrap="square" rtlCol="0">
            <a:spAutoFit/>
          </a:bodyPr>
          <a:lstStyle/>
          <a:p>
            <a:pPr lvl="0"/>
            <a:r>
              <a:rPr lang="en-US" b="1" dirty="0"/>
              <a:t>A column (stacked column) chart makes it easy to compare magnitude of average ADR between hotel types — taller bar = higher revenue per room. It’s simple and quick for categorical comparisons.</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Oval 5"/>
          <p:cNvSpPr/>
          <p:nvPr/>
        </p:nvSpPr>
        <p:spPr>
          <a:xfrm>
            <a:off x="143435" y="224943"/>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8" name="TextBox 7"/>
          <p:cNvSpPr txBox="1"/>
          <p:nvPr/>
        </p:nvSpPr>
        <p:spPr>
          <a:xfrm>
            <a:off x="255494" y="1533765"/>
            <a:ext cx="854336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What is/are the insight(s) found from the chart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p:cNvSpPr txBox="1"/>
          <p:nvPr/>
        </p:nvSpPr>
        <p:spPr>
          <a:xfrm>
            <a:off x="217787" y="2967335"/>
            <a:ext cx="10515600"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Will the gained insights help creating a positive business impact?</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Are there any insights that lead to negative growth? Justify with specific reason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Oval 11"/>
          <p:cNvSpPr/>
          <p:nvPr/>
        </p:nvSpPr>
        <p:spPr>
          <a:xfrm>
            <a:off x="143435" y="1664780"/>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 name="Oval 12"/>
          <p:cNvSpPr/>
          <p:nvPr/>
        </p:nvSpPr>
        <p:spPr>
          <a:xfrm flipV="1">
            <a:off x="143435" y="3124557"/>
            <a:ext cx="112059" cy="987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 name="Rectangle 1"/>
          <p:cNvSpPr>
            <a:spLocks noChangeArrowheads="1"/>
          </p:cNvSpPr>
          <p:nvPr/>
        </p:nvSpPr>
        <p:spPr bwMode="auto">
          <a:xfrm>
            <a:off x="255494" y="3566161"/>
            <a:ext cx="1152232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rPr>
              <a:t>Here we see that the City Hotel Have More avg ADR as compares to Resort Hotel it’s good  but we noticed one thing that is the city hotel have more bookings as compare to Resort Hotel but Revenue difference is not like bookings means that indicate Resort hotel Make less booking but generates revenue nearest to the City hotel so City Hotel also need to check what is revenue model of Resort hotel and Resort hotel needs to increase the booking so it make more revenue which directly increases the profit. </a:t>
            </a:r>
          </a:p>
        </p:txBody>
      </p:sp>
      <p:sp>
        <p:nvSpPr>
          <p:cNvPr id="4" name="Rectangle 1"/>
          <p:cNvSpPr>
            <a:spLocks noChangeArrowheads="1"/>
          </p:cNvSpPr>
          <p:nvPr/>
        </p:nvSpPr>
        <p:spPr bwMode="auto">
          <a:xfrm>
            <a:off x="358218" y="1906844"/>
            <a:ext cx="12192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City Hotel ADR (105.30) is higher than </a:t>
            </a:r>
            <a:r>
              <a:rPr kumimoji="0" lang="en-US" altLang="en-US" sz="1800" b="1" i="0" u="none" strike="noStrike" cap="none" normalizeH="0" baseline="0" dirty="0">
                <a:ln>
                  <a:noFill/>
                </a:ln>
                <a:solidFill>
                  <a:schemeClr val="tx1"/>
                </a:solidFill>
                <a:effectLst/>
              </a:rPr>
              <a:t>Resort</a:t>
            </a:r>
            <a:r>
              <a:rPr kumimoji="0" lang="en-US" altLang="en-US" sz="1800" b="1" i="0" u="none" strike="noStrike" cap="none" normalizeH="0" baseline="0" dirty="0">
                <a:ln>
                  <a:noFill/>
                </a:ln>
                <a:solidFill>
                  <a:schemeClr val="tx1"/>
                </a:solidFill>
                <a:effectLst/>
                <a:latin typeface="Arial" panose="020B0604020202020204" pitchFamily="34" charset="0"/>
              </a:rPr>
              <a:t> Hotel ADR (94.95).</a:t>
            </a:r>
          </a:p>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The difference (~10.35) suggests City rooms earn more per night on average</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683118" y="731840"/>
            <a:ext cx="8097376" cy="4346753"/>
          </a:xfrm>
          <a:prstGeom prst="rect">
            <a:avLst/>
          </a:prstGeom>
        </p:spPr>
      </p:pic>
      <p:sp>
        <p:nvSpPr>
          <p:cNvPr id="4" name="TextBox 3"/>
          <p:cNvSpPr txBox="1"/>
          <p:nvPr/>
        </p:nvSpPr>
        <p:spPr>
          <a:xfrm>
            <a:off x="245097" y="75415"/>
            <a:ext cx="8531258" cy="461665"/>
          </a:xfrm>
          <a:prstGeom prst="rect">
            <a:avLst/>
          </a:prstGeom>
          <a:noFill/>
        </p:spPr>
        <p:txBody>
          <a:bodyPr wrap="square" rtlCol="0">
            <a:spAutoFit/>
          </a:bodyPr>
          <a:lstStyle/>
          <a:p>
            <a:r>
              <a:rPr lang="en-US" sz="2400" b="1" dirty="0"/>
              <a:t>Which Agents done more Bookings ?</a:t>
            </a:r>
            <a:endParaRPr lang="en-IN" sz="2400" b="1" dirty="0"/>
          </a:p>
        </p:txBody>
      </p:sp>
      <p:sp>
        <p:nvSpPr>
          <p:cNvPr id="5" name="Oval 4"/>
          <p:cNvSpPr/>
          <p:nvPr/>
        </p:nvSpPr>
        <p:spPr>
          <a:xfrm>
            <a:off x="133038" y="256876"/>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C</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494" y="108142"/>
            <a:ext cx="80234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Why did you pick the specific chart?</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p:cNvSpPr txBox="1"/>
          <p:nvPr/>
        </p:nvSpPr>
        <p:spPr>
          <a:xfrm flipH="1">
            <a:off x="358218" y="481664"/>
            <a:ext cx="11793071" cy="923330"/>
          </a:xfrm>
          <a:prstGeom prst="rect">
            <a:avLst/>
          </a:prstGeom>
          <a:noFill/>
        </p:spPr>
        <p:txBody>
          <a:bodyPr wrap="square" rtlCol="0">
            <a:spAutoFit/>
          </a:bodyPr>
          <a:lstStyle/>
          <a:p>
            <a:r>
              <a:rPr lang="en-US" b="1" dirty="0"/>
              <a:t>A column chart clearly shows which agents generate the highest number of bookings and helps compare agent performance quickly.</a:t>
            </a:r>
          </a:p>
          <a:p>
            <a:pPr lvl="0"/>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Oval 5"/>
          <p:cNvSpPr/>
          <p:nvPr/>
        </p:nvSpPr>
        <p:spPr>
          <a:xfrm>
            <a:off x="143435" y="224943"/>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8" name="TextBox 7"/>
          <p:cNvSpPr txBox="1"/>
          <p:nvPr/>
        </p:nvSpPr>
        <p:spPr>
          <a:xfrm>
            <a:off x="255494" y="1533765"/>
            <a:ext cx="854336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What is/are the insight(s) found from the chart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p:cNvSpPr txBox="1"/>
          <p:nvPr/>
        </p:nvSpPr>
        <p:spPr>
          <a:xfrm>
            <a:off x="217787" y="2967335"/>
            <a:ext cx="10515600"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Will the gained insights help creating a positive business impact?</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Are there any insights that lead to negative growth? Justify with specific reason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Oval 11"/>
          <p:cNvSpPr/>
          <p:nvPr/>
        </p:nvSpPr>
        <p:spPr>
          <a:xfrm>
            <a:off x="143435" y="1664780"/>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 name="Oval 12"/>
          <p:cNvSpPr/>
          <p:nvPr/>
        </p:nvSpPr>
        <p:spPr>
          <a:xfrm flipV="1">
            <a:off x="143435" y="3124557"/>
            <a:ext cx="112059" cy="987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7" name="Rectangle 1"/>
          <p:cNvSpPr>
            <a:spLocks noChangeArrowheads="1"/>
          </p:cNvSpPr>
          <p:nvPr/>
        </p:nvSpPr>
        <p:spPr bwMode="auto">
          <a:xfrm>
            <a:off x="358218" y="1740882"/>
            <a:ext cx="105156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rPr>
              <a:t>A few agents (like Agent 9, 240, 14) generate the majority of bookings.</a:t>
            </a:r>
          </a:p>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rPr>
              <a:t>Many agents have very low booking counts, showing uneven performance.</a:t>
            </a:r>
          </a:p>
          <a:p>
            <a:pPr marL="0" marR="0" lvl="0" indent="0" algn="l" defTabSz="914400" rtl="0" eaLnBrk="0" fontAlgn="base" latinLnBrk="0" hangingPunct="0">
              <a:lnSpc>
                <a:spcPct val="100000"/>
              </a:lnSpc>
              <a:spcBef>
                <a:spcPct val="0"/>
              </a:spcBef>
              <a:spcAft>
                <a:spcPct val="0"/>
              </a:spcAft>
              <a:buClrTx/>
              <a:buSzTx/>
            </a:pPr>
            <a:r>
              <a:rPr lang="en-US" altLang="en-US" b="1" dirty="0"/>
              <a:t>Direct visit booking are in place of 2</a:t>
            </a:r>
            <a:r>
              <a:rPr lang="en-US" altLang="en-US" b="1" baseline="30000" dirty="0"/>
              <a:t>nd</a:t>
            </a:r>
            <a:r>
              <a:rPr lang="en-US" altLang="en-US" b="1" dirty="0"/>
              <a:t> number so we can </a:t>
            </a:r>
            <a:r>
              <a:rPr lang="en-US" altLang="en-US" b="1" dirty="0" err="1"/>
              <a:t>bost</a:t>
            </a:r>
            <a:r>
              <a:rPr lang="en-US" altLang="en-US" b="1" dirty="0"/>
              <a:t> it to reduce agent commission.</a:t>
            </a:r>
            <a:endParaRPr kumimoji="0" lang="en-US" altLang="en-US" sz="1800" b="1" i="0" u="none" strike="noStrike" cap="none" normalizeH="0" baseline="0" dirty="0">
              <a:ln>
                <a:noFill/>
              </a:ln>
              <a:solidFill>
                <a:schemeClr val="tx1"/>
              </a:solidFill>
              <a:effectLst/>
            </a:endParaRPr>
          </a:p>
        </p:txBody>
      </p:sp>
      <p:sp>
        <p:nvSpPr>
          <p:cNvPr id="9" name="Rectangle 2"/>
          <p:cNvSpPr>
            <a:spLocks noChangeArrowheads="1"/>
          </p:cNvSpPr>
          <p:nvPr/>
        </p:nvSpPr>
        <p:spPr bwMode="auto">
          <a:xfrm>
            <a:off x="358218" y="3589950"/>
            <a:ext cx="903240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rPr>
              <a:t>High-performing agents can be prioritized and supported to boost revenue.</a:t>
            </a:r>
          </a:p>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rPr>
              <a:t>Low-performing agents indicate inefficiency, which may lead to missed sales if not improved.</a:t>
            </a:r>
          </a:p>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rPr>
              <a:t>Low-performing agents must be follow </a:t>
            </a:r>
            <a:r>
              <a:rPr kumimoji="0" lang="en-US" altLang="en-US" sz="1800" b="1" i="0" u="none" strike="noStrike" cap="none" normalizeH="0" baseline="0" dirty="0" err="1">
                <a:ln>
                  <a:noFill/>
                </a:ln>
                <a:solidFill>
                  <a:schemeClr val="tx1"/>
                </a:solidFill>
                <a:effectLst/>
              </a:rPr>
              <a:t>circulam</a:t>
            </a:r>
            <a:r>
              <a:rPr kumimoji="0" lang="en-US" altLang="en-US" sz="1800" b="1" i="0" u="none" strike="noStrike" cap="none" normalizeH="0" baseline="0" dirty="0">
                <a:ln>
                  <a:noFill/>
                </a:ln>
                <a:solidFill>
                  <a:schemeClr val="tx1"/>
                </a:solidFill>
                <a:effectLst/>
              </a:rPr>
              <a:t> which do by high performing agents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40179" y="792330"/>
            <a:ext cx="8651888" cy="4138257"/>
          </a:xfrm>
          <a:prstGeom prst="rect">
            <a:avLst/>
          </a:prstGeom>
        </p:spPr>
      </p:pic>
      <p:sp>
        <p:nvSpPr>
          <p:cNvPr id="5" name="TextBox 4"/>
          <p:cNvSpPr txBox="1"/>
          <p:nvPr/>
        </p:nvSpPr>
        <p:spPr>
          <a:xfrm>
            <a:off x="339365" y="75415"/>
            <a:ext cx="8682087" cy="461665"/>
          </a:xfrm>
          <a:prstGeom prst="rect">
            <a:avLst/>
          </a:prstGeom>
          <a:noFill/>
        </p:spPr>
        <p:txBody>
          <a:bodyPr wrap="square" rtlCol="0">
            <a:spAutoFit/>
          </a:bodyPr>
          <a:lstStyle/>
          <a:p>
            <a:r>
              <a:rPr lang="en-US" sz="2400" b="1" dirty="0"/>
              <a:t>How Much Repeated Bookings in Each Year ?</a:t>
            </a:r>
            <a:endParaRPr lang="en-IN" sz="2400" b="1" dirty="0"/>
          </a:p>
        </p:txBody>
      </p:sp>
      <p:sp>
        <p:nvSpPr>
          <p:cNvPr id="7" name="Oval 6"/>
          <p:cNvSpPr/>
          <p:nvPr/>
        </p:nvSpPr>
        <p:spPr>
          <a:xfrm>
            <a:off x="227306" y="256876"/>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494" y="108142"/>
            <a:ext cx="80234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Why did you pick the specific chart?</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p:cNvSpPr txBox="1"/>
          <p:nvPr/>
        </p:nvSpPr>
        <p:spPr>
          <a:xfrm flipH="1">
            <a:off x="358218" y="481664"/>
            <a:ext cx="11793071" cy="369332"/>
          </a:xfrm>
          <a:prstGeom prst="rect">
            <a:avLst/>
          </a:prstGeom>
          <a:noFill/>
        </p:spPr>
        <p:txBody>
          <a:bodyPr wrap="square" rtlCol="0">
            <a:spAutoFit/>
          </a:bodyPr>
          <a:lstStyle/>
          <a:p>
            <a:pPr lvl="0"/>
            <a:r>
              <a:rPr lang="en-US" b="1" dirty="0"/>
              <a:t>A column chart is best for comparing repeated bookings across different years visually and clearly.</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Oval 5"/>
          <p:cNvSpPr/>
          <p:nvPr/>
        </p:nvSpPr>
        <p:spPr>
          <a:xfrm>
            <a:off x="143435" y="224943"/>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8" name="TextBox 7"/>
          <p:cNvSpPr txBox="1"/>
          <p:nvPr/>
        </p:nvSpPr>
        <p:spPr>
          <a:xfrm>
            <a:off x="226243" y="1455251"/>
            <a:ext cx="85726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What is/are the insight(s) found from the chart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p:cNvSpPr txBox="1"/>
          <p:nvPr/>
        </p:nvSpPr>
        <p:spPr>
          <a:xfrm>
            <a:off x="358218" y="2967335"/>
            <a:ext cx="10515600"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Will the gained insights help creating a positive business impact?</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Are there any insights that lead to negative growth? Justify with specific reason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Oval 11"/>
          <p:cNvSpPr/>
          <p:nvPr/>
        </p:nvSpPr>
        <p:spPr>
          <a:xfrm>
            <a:off x="143434" y="1574287"/>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 name="Oval 12"/>
          <p:cNvSpPr/>
          <p:nvPr/>
        </p:nvSpPr>
        <p:spPr>
          <a:xfrm flipV="1">
            <a:off x="143435" y="3124557"/>
            <a:ext cx="112059" cy="987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9" name="Rectangle 2"/>
          <p:cNvSpPr>
            <a:spLocks noChangeArrowheads="1"/>
          </p:cNvSpPr>
          <p:nvPr/>
        </p:nvSpPr>
        <p:spPr bwMode="auto">
          <a:xfrm>
            <a:off x="401102" y="3575559"/>
            <a:ext cx="1143268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US" b="1" dirty="0"/>
              <a:t>Yes.</a:t>
            </a:r>
          </a:p>
          <a:p>
            <a:r>
              <a:rPr lang="en-US" b="1" dirty="0"/>
              <a:t>Rising repeated bookings show strong customer loyalty, useful for retention strategies.</a:t>
            </a:r>
          </a:p>
          <a:p>
            <a:r>
              <a:rPr lang="en-US" b="1" dirty="0"/>
              <a:t>Negative insight: Drop after 2016 suggests some customers may not be returning, indicating possible service or pricing issues.</a:t>
            </a:r>
          </a:p>
          <a:p>
            <a:pPr marL="0" marR="0" lvl="0" indent="0" algn="l" defTabSz="914400" rtl="0" eaLnBrk="0" fontAlgn="base" latinLnBrk="0" hangingPunct="0">
              <a:lnSpc>
                <a:spcPct val="100000"/>
              </a:lnSpc>
              <a:spcBef>
                <a:spcPct val="0"/>
              </a:spcBef>
              <a:spcAft>
                <a:spcPct val="0"/>
              </a:spcAft>
              <a:buClrTx/>
              <a:buSzTx/>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1"/>
          <p:cNvSpPr>
            <a:spLocks noChangeArrowheads="1"/>
          </p:cNvSpPr>
          <p:nvPr/>
        </p:nvSpPr>
        <p:spPr bwMode="auto">
          <a:xfrm>
            <a:off x="358217" y="1863853"/>
            <a:ext cx="905915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Repeated bookings increased sharply from 2015 (641) to 2016 (1778).</a:t>
            </a:r>
          </a:p>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They slightly declined in 2017 (1391) but remained higher than </a:t>
            </a:r>
            <a:r>
              <a:rPr kumimoji="0" lang="en-US" altLang="en-US" sz="1800" b="1" i="0" u="none" strike="noStrike" cap="none" normalizeH="0" baseline="0" dirty="0">
                <a:ln>
                  <a:noFill/>
                </a:ln>
                <a:solidFill>
                  <a:schemeClr val="tx1"/>
                </a:solidFill>
                <a:effectLst/>
              </a:rPr>
              <a:t>2015</a:t>
            </a:r>
            <a:r>
              <a:rPr kumimoji="0" lang="en-US" altLang="en-US" sz="1800" b="1"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3082" y="89647"/>
            <a:ext cx="10820400" cy="1015663"/>
          </a:xfrm>
          <a:prstGeom prst="rect">
            <a:avLst/>
          </a:prstGeom>
          <a:noFill/>
        </p:spPr>
        <p:txBody>
          <a:bodyPr wrap="square" rtlCol="0">
            <a:spAutoFit/>
          </a:bodyPr>
          <a:lstStyle/>
          <a:p>
            <a:r>
              <a:rPr lang="en-IN" sz="2400" b="1" dirty="0"/>
              <a:t>What is Distribution rate of Satisfied Bookings ?</a:t>
            </a:r>
            <a:r>
              <a:rPr lang="en-IN" dirty="0"/>
              <a:t>(</a:t>
            </a:r>
            <a:r>
              <a:rPr lang="en-IN" b="1" dirty="0"/>
              <a:t>such bookings who get such rooms which they are reserved during the booking based on this we find this ratio.)</a:t>
            </a:r>
          </a:p>
          <a:p>
            <a:endParaRPr lang="en-IN" b="1" dirty="0"/>
          </a:p>
        </p:txBody>
      </p:sp>
      <p:pic>
        <p:nvPicPr>
          <p:cNvPr id="4" name="Picture 3"/>
          <p:cNvPicPr>
            <a:picLocks noChangeAspect="1"/>
          </p:cNvPicPr>
          <p:nvPr/>
        </p:nvPicPr>
        <p:blipFill>
          <a:blip r:embed="rId2"/>
          <a:stretch>
            <a:fillRect/>
          </a:stretch>
        </p:blipFill>
        <p:spPr>
          <a:xfrm>
            <a:off x="2146620" y="1105310"/>
            <a:ext cx="7364934" cy="4444702"/>
          </a:xfrm>
          <a:prstGeom prst="rect">
            <a:avLst/>
          </a:prstGeom>
        </p:spPr>
      </p:pic>
      <p:sp>
        <p:nvSpPr>
          <p:cNvPr id="5" name="Oval 4"/>
          <p:cNvSpPr/>
          <p:nvPr/>
        </p:nvSpPr>
        <p:spPr>
          <a:xfrm>
            <a:off x="121023" y="272919"/>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494" y="108142"/>
            <a:ext cx="80234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Why did you pick the specific chart?</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p:cNvSpPr txBox="1"/>
          <p:nvPr/>
        </p:nvSpPr>
        <p:spPr>
          <a:xfrm flipH="1">
            <a:off x="358218" y="481664"/>
            <a:ext cx="11793071" cy="646331"/>
          </a:xfrm>
          <a:prstGeom prst="rect">
            <a:avLst/>
          </a:prstGeom>
          <a:noFill/>
        </p:spPr>
        <p:txBody>
          <a:bodyPr wrap="square" rtlCol="0">
            <a:spAutoFit/>
          </a:bodyPr>
          <a:lstStyle/>
          <a:p>
            <a:pPr lvl="0"/>
            <a:r>
              <a:rPr lang="en-US" b="1" dirty="0"/>
              <a:t>I used a Pie Chart because it clearly shows the proportion of customers who received their reserved rooms in City Hotel vs Resort Hotel. It’s the simplest way to compare two categories.</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Oval 5"/>
          <p:cNvSpPr/>
          <p:nvPr/>
        </p:nvSpPr>
        <p:spPr>
          <a:xfrm>
            <a:off x="143435" y="224943"/>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8" name="TextBox 7"/>
          <p:cNvSpPr txBox="1"/>
          <p:nvPr/>
        </p:nvSpPr>
        <p:spPr>
          <a:xfrm>
            <a:off x="226243" y="1455251"/>
            <a:ext cx="85726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What is/are the insight(s) found from the chart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p:cNvSpPr txBox="1"/>
          <p:nvPr/>
        </p:nvSpPr>
        <p:spPr>
          <a:xfrm>
            <a:off x="358218" y="2967335"/>
            <a:ext cx="10515600"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Will the gained insights help creating a positive business impact?</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Are there any insights that lead to negative growth? Justify with specific reason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Oval 11"/>
          <p:cNvSpPr/>
          <p:nvPr/>
        </p:nvSpPr>
        <p:spPr>
          <a:xfrm>
            <a:off x="143435" y="1576009"/>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 name="Oval 12"/>
          <p:cNvSpPr/>
          <p:nvPr/>
        </p:nvSpPr>
        <p:spPr>
          <a:xfrm flipV="1">
            <a:off x="154640" y="3076908"/>
            <a:ext cx="112059" cy="987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 name="Rectangle 1"/>
          <p:cNvSpPr>
            <a:spLocks noChangeArrowheads="1"/>
          </p:cNvSpPr>
          <p:nvPr/>
        </p:nvSpPr>
        <p:spPr bwMode="auto">
          <a:xfrm>
            <a:off x="358217" y="1863853"/>
            <a:ext cx="905915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rPr>
              <a:t>Here we see that City Hotel have 66.44% Customer Satisfaction ratio which greater than Resort Hotel who have 33.56 % Satisfaction ratio.</a:t>
            </a:r>
          </a:p>
        </p:txBody>
      </p:sp>
      <p:sp>
        <p:nvSpPr>
          <p:cNvPr id="4" name="Rectangle 3"/>
          <p:cNvSpPr/>
          <p:nvPr/>
        </p:nvSpPr>
        <p:spPr>
          <a:xfrm>
            <a:off x="358216" y="3627029"/>
            <a:ext cx="11475565" cy="1754326"/>
          </a:xfrm>
          <a:prstGeom prst="rect">
            <a:avLst/>
          </a:prstGeom>
        </p:spPr>
        <p:txBody>
          <a:bodyPr wrap="square">
            <a:spAutoFit/>
          </a:bodyPr>
          <a:lstStyle/>
          <a:p>
            <a:r>
              <a:rPr lang="en-US" b="1" dirty="0"/>
              <a:t>The insights help create a positive business impact because they show that City Hotels handle reserved-room assignments efficiently, which can be continued, and Resort Hotels need improvement. However, the lower assignment rate at Resort Hotels is a negative insight that may lead to customer dissatisfaction and affect growth if not resolved</a:t>
            </a:r>
            <a:r>
              <a:rPr lang="en-US" dirty="0"/>
              <a:t>.</a:t>
            </a:r>
          </a:p>
          <a:p>
            <a:endParaRPr lang="en-US" dirty="0"/>
          </a:p>
          <a:p>
            <a:r>
              <a:rPr lang="en-US" b="1" dirty="0"/>
              <a:t>This may be one of the reason of less bookings of resort hotel so if Resort deals it and Handle it then They can also generates the more bookings.</a:t>
            </a:r>
            <a:endParaRPr lang="en-IN" b="1"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2047" y="62753"/>
            <a:ext cx="7969624" cy="461665"/>
          </a:xfrm>
          <a:prstGeom prst="rect">
            <a:avLst/>
          </a:prstGeom>
          <a:noFill/>
        </p:spPr>
        <p:txBody>
          <a:bodyPr wrap="square" rtlCol="0">
            <a:spAutoFit/>
          </a:bodyPr>
          <a:lstStyle/>
          <a:p>
            <a:r>
              <a:rPr lang="en-IN" sz="2400" b="1" dirty="0"/>
              <a:t>From which Medium most no of bookings are done ?</a:t>
            </a:r>
          </a:p>
        </p:txBody>
      </p:sp>
      <p:pic>
        <p:nvPicPr>
          <p:cNvPr id="4" name="Picture 3"/>
          <p:cNvPicPr>
            <a:picLocks noChangeAspect="1"/>
          </p:cNvPicPr>
          <p:nvPr/>
        </p:nvPicPr>
        <p:blipFill>
          <a:blip r:embed="rId2"/>
          <a:stretch>
            <a:fillRect/>
          </a:stretch>
        </p:blipFill>
        <p:spPr>
          <a:xfrm>
            <a:off x="1642454" y="806088"/>
            <a:ext cx="8290440" cy="4211969"/>
          </a:xfrm>
          <a:prstGeom prst="rect">
            <a:avLst/>
          </a:prstGeom>
        </p:spPr>
      </p:pic>
      <p:sp>
        <p:nvSpPr>
          <p:cNvPr id="5" name="Oval 4"/>
          <p:cNvSpPr/>
          <p:nvPr/>
        </p:nvSpPr>
        <p:spPr>
          <a:xfrm>
            <a:off x="129988" y="244214"/>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494" y="108142"/>
            <a:ext cx="80234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Why did you pick the specific chart?</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p:cNvSpPr txBox="1"/>
          <p:nvPr/>
        </p:nvSpPr>
        <p:spPr>
          <a:xfrm flipH="1">
            <a:off x="358218" y="481664"/>
            <a:ext cx="11793071" cy="646331"/>
          </a:xfrm>
          <a:prstGeom prst="rect">
            <a:avLst/>
          </a:prstGeom>
          <a:noFill/>
        </p:spPr>
        <p:txBody>
          <a:bodyPr wrap="square" rtlCol="0">
            <a:spAutoFit/>
          </a:bodyPr>
          <a:lstStyle/>
          <a:p>
            <a:pPr lvl="0"/>
            <a:r>
              <a:rPr lang="en-US" dirty="0"/>
              <a:t>I used a </a:t>
            </a:r>
            <a:r>
              <a:rPr lang="en-US" b="1" dirty="0"/>
              <a:t>bar chart</a:t>
            </a:r>
            <a:r>
              <a:rPr lang="en-US" dirty="0"/>
              <a:t> because it clearly compares the number of bookings across different mediums, making it easy to see which channel performs best.</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Oval 5"/>
          <p:cNvSpPr/>
          <p:nvPr/>
        </p:nvSpPr>
        <p:spPr>
          <a:xfrm>
            <a:off x="143435" y="224943"/>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8" name="TextBox 7"/>
          <p:cNvSpPr txBox="1"/>
          <p:nvPr/>
        </p:nvSpPr>
        <p:spPr>
          <a:xfrm>
            <a:off x="226243" y="1455251"/>
            <a:ext cx="85726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What is/are the insight(s) found from the chart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p:cNvSpPr txBox="1"/>
          <p:nvPr/>
        </p:nvSpPr>
        <p:spPr>
          <a:xfrm>
            <a:off x="255494" y="3478306"/>
            <a:ext cx="10515600"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Will the gained insights help creating a positive business impact?</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Are there any insights that lead to negative growth? Justify with specific reason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Oval 11"/>
          <p:cNvSpPr/>
          <p:nvPr/>
        </p:nvSpPr>
        <p:spPr>
          <a:xfrm>
            <a:off x="143435" y="1623658"/>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 name="Oval 12"/>
          <p:cNvSpPr/>
          <p:nvPr/>
        </p:nvSpPr>
        <p:spPr>
          <a:xfrm flipV="1">
            <a:off x="143435" y="3599686"/>
            <a:ext cx="112059" cy="987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 name="Rectangle 1"/>
          <p:cNvSpPr>
            <a:spLocks noChangeArrowheads="1"/>
          </p:cNvSpPr>
          <p:nvPr/>
        </p:nvSpPr>
        <p:spPr bwMode="auto">
          <a:xfrm>
            <a:off x="367553" y="1768175"/>
            <a:ext cx="105156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US" b="1" dirty="0"/>
              <a:t>The Insights :</a:t>
            </a:r>
          </a:p>
          <a:p>
            <a:r>
              <a:rPr lang="en-US" b="1" dirty="0"/>
              <a:t>Online TA has the highest bookings (36K).</a:t>
            </a:r>
          </a:p>
          <a:p>
            <a:r>
              <a:rPr lang="en-US" b="1" dirty="0"/>
              <a:t>Offline TA/TO is the second highest (16K).</a:t>
            </a:r>
          </a:p>
          <a:p>
            <a:r>
              <a:rPr lang="en-US" b="1" dirty="0"/>
              <a:t>Direct, Groups, Corporate have moderate bookings.</a:t>
            </a:r>
          </a:p>
          <a:p>
            <a:r>
              <a:rPr lang="en-US" b="1" dirty="0"/>
              <a:t>Complementary and Aviation contribute very little.</a:t>
            </a:r>
          </a:p>
          <a:p>
            <a:pPr marL="0" marR="0" lvl="0" indent="0" algn="l" defTabSz="914400" rtl="0" eaLnBrk="0" fontAlgn="base" latinLnBrk="0" hangingPunct="0">
              <a:lnSpc>
                <a:spcPct val="100000"/>
              </a:lnSpc>
              <a:spcBef>
                <a:spcPct val="0"/>
              </a:spcBef>
              <a:spcAft>
                <a:spcPct val="0"/>
              </a:spcAft>
              <a:buClrTx/>
              <a:buSzTx/>
            </a:pPr>
            <a:endParaRPr kumimoji="0" lang="en-US" altLang="en-US" sz="1800" b="1" i="0" u="none" strike="noStrike" cap="none" normalizeH="0" baseline="0" dirty="0">
              <a:ln>
                <a:noFill/>
              </a:ln>
              <a:solidFill>
                <a:schemeClr val="tx1"/>
              </a:solidFill>
              <a:effectLst/>
              <a:latin typeface="Arial" panose="020B0604020202020204" pitchFamily="34" charset="0"/>
            </a:endParaRPr>
          </a:p>
        </p:txBody>
      </p:sp>
      <p:sp>
        <p:nvSpPr>
          <p:cNvPr id="4" name="Rectangle 3"/>
          <p:cNvSpPr/>
          <p:nvPr/>
        </p:nvSpPr>
        <p:spPr>
          <a:xfrm>
            <a:off x="367553" y="4162681"/>
            <a:ext cx="11475565" cy="923330"/>
          </a:xfrm>
          <a:prstGeom prst="rect">
            <a:avLst/>
          </a:prstGeom>
        </p:spPr>
        <p:txBody>
          <a:bodyPr wrap="square">
            <a:spAutoFit/>
          </a:bodyPr>
          <a:lstStyle/>
          <a:p>
            <a:r>
              <a:rPr lang="en-US" b="1" dirty="0"/>
              <a:t>These insights help focus marketing and partnership efforts on high-performing mediums like Online TA while improving weaker channels. However, very low bookings in Complementary and Aviation indicate underperforming segments that may negatively affect growth if not optimized.</a:t>
            </a:r>
            <a:endParaRPr lang="en-IN" b="1"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777924" y="929350"/>
            <a:ext cx="8002569" cy="3805853"/>
          </a:xfrm>
          <a:prstGeom prst="rect">
            <a:avLst/>
          </a:prstGeom>
        </p:spPr>
      </p:pic>
      <p:sp>
        <p:nvSpPr>
          <p:cNvPr id="4" name="TextBox 3"/>
          <p:cNvSpPr txBox="1"/>
          <p:nvPr/>
        </p:nvSpPr>
        <p:spPr>
          <a:xfrm>
            <a:off x="286870" y="71717"/>
            <a:ext cx="9341223" cy="461665"/>
          </a:xfrm>
          <a:prstGeom prst="rect">
            <a:avLst/>
          </a:prstGeom>
          <a:noFill/>
        </p:spPr>
        <p:txBody>
          <a:bodyPr wrap="square" rtlCol="0">
            <a:spAutoFit/>
          </a:bodyPr>
          <a:lstStyle/>
          <a:p>
            <a:r>
              <a:rPr lang="en-IN" sz="2400" b="1" dirty="0"/>
              <a:t>Which types of Customers done more booking and in Which hotels? </a:t>
            </a:r>
          </a:p>
        </p:txBody>
      </p:sp>
      <p:sp>
        <p:nvSpPr>
          <p:cNvPr id="5" name="Oval 4"/>
          <p:cNvSpPr/>
          <p:nvPr/>
        </p:nvSpPr>
        <p:spPr>
          <a:xfrm>
            <a:off x="174811" y="253178"/>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494" y="108142"/>
            <a:ext cx="80234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Why did you pick the specific chart?</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p:cNvSpPr txBox="1"/>
          <p:nvPr/>
        </p:nvSpPr>
        <p:spPr>
          <a:xfrm flipH="1">
            <a:off x="343600" y="509295"/>
            <a:ext cx="11793071" cy="369332"/>
          </a:xfrm>
          <a:prstGeom prst="rect">
            <a:avLst/>
          </a:prstGeom>
          <a:noFill/>
        </p:spPr>
        <p:txBody>
          <a:bodyPr wrap="square" rtlCol="0">
            <a:spAutoFit/>
          </a:bodyPr>
          <a:lstStyle/>
          <a:p>
            <a:pPr lvl="0"/>
            <a:r>
              <a:rPr lang="en-US" b="1" dirty="0"/>
              <a:t>I used a clustered column chart to easily compare customer types across City vs Resort Hotels side-by-side.</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Oval 5"/>
          <p:cNvSpPr/>
          <p:nvPr/>
        </p:nvSpPr>
        <p:spPr>
          <a:xfrm>
            <a:off x="143435" y="224943"/>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8" name="TextBox 7"/>
          <p:cNvSpPr txBox="1"/>
          <p:nvPr/>
        </p:nvSpPr>
        <p:spPr>
          <a:xfrm>
            <a:off x="255492" y="1433570"/>
            <a:ext cx="85726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What is/are the insight(s) found from the chart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p:cNvSpPr txBox="1"/>
          <p:nvPr/>
        </p:nvSpPr>
        <p:spPr>
          <a:xfrm>
            <a:off x="255494" y="3478306"/>
            <a:ext cx="10515600"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Will the gained insights help creating a positive business impact?</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Are there any insights that lead to negative growth? Justify with specific reason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Oval 11"/>
          <p:cNvSpPr/>
          <p:nvPr/>
        </p:nvSpPr>
        <p:spPr>
          <a:xfrm>
            <a:off x="143435" y="1568865"/>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 name="Oval 12"/>
          <p:cNvSpPr/>
          <p:nvPr/>
        </p:nvSpPr>
        <p:spPr>
          <a:xfrm flipV="1">
            <a:off x="143435" y="3599686"/>
            <a:ext cx="112059" cy="987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 name="Rectangle 3"/>
          <p:cNvSpPr/>
          <p:nvPr/>
        </p:nvSpPr>
        <p:spPr>
          <a:xfrm>
            <a:off x="358217" y="4090964"/>
            <a:ext cx="11475565" cy="923330"/>
          </a:xfrm>
          <a:prstGeom prst="rect">
            <a:avLst/>
          </a:prstGeom>
        </p:spPr>
        <p:txBody>
          <a:bodyPr wrap="square">
            <a:spAutoFit/>
          </a:bodyPr>
          <a:lstStyle/>
          <a:p>
            <a:r>
              <a:rPr lang="en-US" b="1" dirty="0"/>
              <a:t>The chart shows that Transient and Transient-Party customers bring most of the bookings, so focusing on them can help increase revenue. But Contract and Group customers have very few bookings, which is a weak area and could slow growth if not improved.</a:t>
            </a:r>
            <a:endParaRPr lang="en-IN" b="1" dirty="0"/>
          </a:p>
        </p:txBody>
      </p:sp>
      <p:sp>
        <p:nvSpPr>
          <p:cNvPr id="7" name="Rectangle 1"/>
          <p:cNvSpPr>
            <a:spLocks noChangeArrowheads="1"/>
          </p:cNvSpPr>
          <p:nvPr/>
        </p:nvSpPr>
        <p:spPr bwMode="auto">
          <a:xfrm>
            <a:off x="343600" y="1757680"/>
            <a:ext cx="839640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rPr>
              <a:t>Transient customers form the largest share for both hotels (City: 32.3K, Resort: 20.8K).</a:t>
            </a:r>
          </a:p>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rPr>
              <a:t>Transient-Party is the second highest for both hotels.</a:t>
            </a:r>
          </a:p>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rPr>
              <a:t>Contract and Group customers contribute very little.</a:t>
            </a:r>
          </a:p>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rPr>
              <a:t>City Hotel consistently has more bookings than Resort Hotel in all customer types.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6541" y="53788"/>
            <a:ext cx="10228730" cy="461665"/>
          </a:xfrm>
          <a:prstGeom prst="rect">
            <a:avLst/>
          </a:prstGeom>
          <a:noFill/>
        </p:spPr>
        <p:txBody>
          <a:bodyPr wrap="square" rtlCol="0">
            <a:spAutoFit/>
          </a:bodyPr>
          <a:lstStyle/>
          <a:p>
            <a:r>
              <a:rPr lang="en-IN" sz="2400" b="1" dirty="0"/>
              <a:t>What is Total Stay percentage of each Hotel ?</a:t>
            </a:r>
          </a:p>
        </p:txBody>
      </p:sp>
      <p:pic>
        <p:nvPicPr>
          <p:cNvPr id="6" name="Picture 5"/>
          <p:cNvPicPr>
            <a:picLocks noChangeAspect="1"/>
          </p:cNvPicPr>
          <p:nvPr/>
        </p:nvPicPr>
        <p:blipFill>
          <a:blip r:embed="rId2"/>
          <a:stretch>
            <a:fillRect/>
          </a:stretch>
        </p:blipFill>
        <p:spPr>
          <a:xfrm>
            <a:off x="2259889" y="1125071"/>
            <a:ext cx="6677923" cy="3800835"/>
          </a:xfrm>
          <a:prstGeom prst="rect">
            <a:avLst/>
          </a:prstGeom>
        </p:spPr>
      </p:pic>
      <p:sp>
        <p:nvSpPr>
          <p:cNvPr id="7" name="Oval 6"/>
          <p:cNvSpPr/>
          <p:nvPr/>
        </p:nvSpPr>
        <p:spPr>
          <a:xfrm>
            <a:off x="60511" y="199390"/>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494" y="108142"/>
            <a:ext cx="80234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Why did you pick the specific chart?</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p:cNvSpPr txBox="1"/>
          <p:nvPr/>
        </p:nvSpPr>
        <p:spPr>
          <a:xfrm flipH="1">
            <a:off x="343600" y="460623"/>
            <a:ext cx="11793071" cy="369332"/>
          </a:xfrm>
          <a:prstGeom prst="rect">
            <a:avLst/>
          </a:prstGeom>
          <a:noFill/>
        </p:spPr>
        <p:txBody>
          <a:bodyPr wrap="square" rtlCol="0">
            <a:spAutoFit/>
          </a:bodyPr>
          <a:lstStyle/>
          <a:p>
            <a:pPr lvl="0"/>
            <a:r>
              <a:rPr lang="en-US" b="1" dirty="0"/>
              <a:t>I used a pie chart because it clearly shows the percentage share of total stays between City Hotel and Resort Hotel.</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Oval 5"/>
          <p:cNvSpPr/>
          <p:nvPr/>
        </p:nvSpPr>
        <p:spPr>
          <a:xfrm>
            <a:off x="143435" y="224943"/>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8" name="TextBox 7"/>
          <p:cNvSpPr txBox="1"/>
          <p:nvPr/>
        </p:nvSpPr>
        <p:spPr>
          <a:xfrm>
            <a:off x="255492" y="1433570"/>
            <a:ext cx="85726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What is/are the insight(s) found from the chart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p:cNvSpPr txBox="1"/>
          <p:nvPr/>
        </p:nvSpPr>
        <p:spPr>
          <a:xfrm>
            <a:off x="264459" y="3478306"/>
            <a:ext cx="10515600"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Will the gained insights help creating a positive business impact?</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Are there any insights that lead to negative growth? Justify with specific reason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Oval 11"/>
          <p:cNvSpPr/>
          <p:nvPr/>
        </p:nvSpPr>
        <p:spPr>
          <a:xfrm>
            <a:off x="143435" y="1568865"/>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 name="Oval 12"/>
          <p:cNvSpPr/>
          <p:nvPr/>
        </p:nvSpPr>
        <p:spPr>
          <a:xfrm flipV="1">
            <a:off x="143435" y="3599686"/>
            <a:ext cx="112059" cy="987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 name="Rectangle 3"/>
          <p:cNvSpPr/>
          <p:nvPr/>
        </p:nvSpPr>
        <p:spPr>
          <a:xfrm>
            <a:off x="358217" y="4090964"/>
            <a:ext cx="11475565" cy="1477328"/>
          </a:xfrm>
          <a:prstGeom prst="rect">
            <a:avLst/>
          </a:prstGeom>
        </p:spPr>
        <p:txBody>
          <a:bodyPr wrap="square">
            <a:spAutoFit/>
          </a:bodyPr>
          <a:lstStyle/>
          <a:p>
            <a:r>
              <a:rPr lang="en-IN" b="1" dirty="0"/>
              <a:t>City Hotel has the more total stays than Resort Hotel ,Which is good for revenue . But Resort Hotel’s lower stay count shows weakness that should be improved to avoid slowing overall growth.                     </a:t>
            </a:r>
          </a:p>
          <a:p>
            <a:endParaRPr lang="en-IN" b="1" dirty="0"/>
          </a:p>
          <a:p>
            <a:r>
              <a:rPr lang="en-IN" b="1" dirty="0"/>
              <a:t>It is noticeable that the Resort hotel have 42.27 % stay which less than city hotels but when we see the booking difference between both hotel then we can understand the resort hotel stay % is very impressive.</a:t>
            </a:r>
          </a:p>
        </p:txBody>
      </p:sp>
      <p:sp>
        <p:nvSpPr>
          <p:cNvPr id="7" name="Rectangle 1"/>
          <p:cNvSpPr>
            <a:spLocks noChangeArrowheads="1"/>
          </p:cNvSpPr>
          <p:nvPr/>
        </p:nvSpPr>
        <p:spPr bwMode="auto">
          <a:xfrm>
            <a:off x="442211" y="1806352"/>
            <a:ext cx="924863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US" b="1" dirty="0"/>
              <a:t>City Hotel has the higher total stay: 236K (57.73%)</a:t>
            </a:r>
          </a:p>
          <a:p>
            <a:r>
              <a:rPr lang="en-US" b="1" dirty="0"/>
              <a:t>Resort Hotel, while lower, still has a significant share: 173K (42.27%)</a:t>
            </a:r>
          </a:p>
          <a:p>
            <a:r>
              <a:rPr lang="en-US" b="1" dirty="0"/>
              <a:t>City Hotel handles more total stays overall.</a:t>
            </a:r>
          </a:p>
          <a:p>
            <a:pPr marL="0" marR="0" lvl="0" indent="0" algn="l" defTabSz="914400" rtl="0" eaLnBrk="0" fontAlgn="base" latinLnBrk="0" hangingPunct="0">
              <a:lnSpc>
                <a:spcPct val="100000"/>
              </a:lnSpc>
              <a:spcBef>
                <a:spcPct val="0"/>
              </a:spcBef>
              <a:spcAft>
                <a:spcPct val="0"/>
              </a:spcAft>
              <a:buClrTx/>
              <a:buSzTx/>
            </a:pPr>
            <a:endParaRPr kumimoji="0" lang="en-US" altLang="en-US" sz="1800" b="1" i="0" u="none" strike="noStrike" cap="none" normalizeH="0" baseline="0" dirty="0">
              <a:ln>
                <a:noFill/>
              </a:ln>
              <a:solidFill>
                <a:schemeClr val="tx1"/>
              </a:solidFill>
              <a:effectLs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90164" y="782687"/>
            <a:ext cx="8211036" cy="4597080"/>
          </a:xfrm>
          <a:prstGeom prst="rect">
            <a:avLst/>
          </a:prstGeom>
        </p:spPr>
      </p:pic>
      <p:sp>
        <p:nvSpPr>
          <p:cNvPr id="3" name="TextBox 2"/>
          <p:cNvSpPr txBox="1"/>
          <p:nvPr/>
        </p:nvSpPr>
        <p:spPr>
          <a:xfrm>
            <a:off x="233083" y="-17929"/>
            <a:ext cx="8041341" cy="461665"/>
          </a:xfrm>
          <a:prstGeom prst="rect">
            <a:avLst/>
          </a:prstGeom>
          <a:noFill/>
        </p:spPr>
        <p:txBody>
          <a:bodyPr wrap="square" rtlCol="0">
            <a:spAutoFit/>
          </a:bodyPr>
          <a:lstStyle/>
          <a:p>
            <a:r>
              <a:rPr lang="en-IN" sz="2400" b="1" dirty="0"/>
              <a:t>How much Special request received to each Hotel ?</a:t>
            </a:r>
          </a:p>
        </p:txBody>
      </p:sp>
      <p:sp>
        <p:nvSpPr>
          <p:cNvPr id="4" name="Oval 3"/>
          <p:cNvSpPr/>
          <p:nvPr/>
        </p:nvSpPr>
        <p:spPr>
          <a:xfrm>
            <a:off x="121025" y="163532"/>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494" y="108142"/>
            <a:ext cx="80234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Why did you pick the specific chart?</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p:cNvSpPr txBox="1"/>
          <p:nvPr/>
        </p:nvSpPr>
        <p:spPr>
          <a:xfrm flipH="1">
            <a:off x="343600" y="460623"/>
            <a:ext cx="11793071" cy="646331"/>
          </a:xfrm>
          <a:prstGeom prst="rect">
            <a:avLst/>
          </a:prstGeom>
          <a:noFill/>
        </p:spPr>
        <p:txBody>
          <a:bodyPr wrap="square" rtlCol="0">
            <a:spAutoFit/>
          </a:bodyPr>
          <a:lstStyle/>
          <a:p>
            <a:pPr lvl="0"/>
            <a:r>
              <a:rPr lang="en-US" b="1" dirty="0"/>
              <a:t>I used a column chart because it clearly compares the number of special requests between City Hotel and Resort Hotel in a simple and direct way.</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Oval 5"/>
          <p:cNvSpPr/>
          <p:nvPr/>
        </p:nvSpPr>
        <p:spPr>
          <a:xfrm>
            <a:off x="143435" y="224943"/>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8" name="TextBox 7"/>
          <p:cNvSpPr txBox="1"/>
          <p:nvPr/>
        </p:nvSpPr>
        <p:spPr>
          <a:xfrm>
            <a:off x="255492" y="1433570"/>
            <a:ext cx="85726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What is/are the insight(s) found from the chart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p:cNvSpPr txBox="1"/>
          <p:nvPr/>
        </p:nvSpPr>
        <p:spPr>
          <a:xfrm>
            <a:off x="313399" y="3276818"/>
            <a:ext cx="10515600"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Will the gained insights help creating a positive business impact?</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Arial Black" panose="020B0A04020102020204" charset="0"/>
                <a:ea typeface="+mn-ea"/>
                <a:cs typeface="+mn-cs"/>
              </a:rPr>
              <a:t>Are there any insights that lead to negative growth? Justify with specific reason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Oval 11"/>
          <p:cNvSpPr/>
          <p:nvPr/>
        </p:nvSpPr>
        <p:spPr>
          <a:xfrm>
            <a:off x="143435" y="1568865"/>
            <a:ext cx="112059" cy="9874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 name="Oval 12"/>
          <p:cNvSpPr/>
          <p:nvPr/>
        </p:nvSpPr>
        <p:spPr>
          <a:xfrm flipV="1">
            <a:off x="143435" y="3429000"/>
            <a:ext cx="112059" cy="987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 name="Rectangle 3"/>
          <p:cNvSpPr/>
          <p:nvPr/>
        </p:nvSpPr>
        <p:spPr>
          <a:xfrm>
            <a:off x="343600" y="3902705"/>
            <a:ext cx="11475565" cy="1200329"/>
          </a:xfrm>
          <a:prstGeom prst="rect">
            <a:avLst/>
          </a:prstGeom>
        </p:spPr>
        <p:txBody>
          <a:bodyPr wrap="square">
            <a:spAutoFit/>
          </a:bodyPr>
          <a:lstStyle/>
          <a:p>
            <a:pPr lvl="0"/>
            <a:r>
              <a:rPr lang="en-US" b="1" dirty="0"/>
              <a:t>These insights are helpful because they show how many special services guests need, so hotels can plan staff and improve service. But there is also a possible problem: City Hotel gets too many special requests, which can increase pressure on staff, and Resort Hotel gets too few requests, which may mean guests are less active or engaged. Both situations can affect growth if not handled properly.</a:t>
            </a:r>
            <a:endParaRPr kumimoji="0" lang="en-IN" sz="18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 name="Rectangle 1"/>
          <p:cNvSpPr>
            <a:spLocks noChangeArrowheads="1"/>
          </p:cNvSpPr>
          <p:nvPr/>
        </p:nvSpPr>
        <p:spPr bwMode="auto">
          <a:xfrm>
            <a:off x="442211" y="1777964"/>
            <a:ext cx="568739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rPr>
              <a:t>City Hotel has more special requests (43K).</a:t>
            </a:r>
          </a:p>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rPr>
              <a:t>Resort Hotel has fewer special requests (25K).</a:t>
            </a:r>
          </a:p>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rPr>
              <a:t>City Hotel guests may require more </a:t>
            </a:r>
            <a:r>
              <a:rPr kumimoji="0" lang="en-US" altLang="en-US" sz="1800" b="1" i="0" u="none" strike="noStrike" cap="none" normalizeH="0" baseline="0" dirty="0" err="1">
                <a:ln>
                  <a:noFill/>
                </a:ln>
                <a:solidFill>
                  <a:schemeClr val="tx1"/>
                </a:solidFill>
                <a:effectLst/>
              </a:rPr>
              <a:t>personalised</a:t>
            </a:r>
            <a:r>
              <a:rPr kumimoji="0" lang="en-US" altLang="en-US" sz="1800" b="1" i="0" u="none" strike="noStrike" cap="none" normalizeH="0" baseline="0" dirty="0">
                <a:ln>
                  <a:noFill/>
                </a:ln>
                <a:solidFill>
                  <a:schemeClr val="tx1"/>
                </a:solidFill>
                <a:effectLst/>
              </a:rPr>
              <a:t> services</a:t>
            </a:r>
            <a:r>
              <a:rPr kumimoji="0" lang="en-US" altLang="en-US" sz="1800" b="1"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1341" y="62754"/>
            <a:ext cx="8390964" cy="707886"/>
          </a:xfrm>
          <a:prstGeom prst="rect">
            <a:avLst/>
          </a:prstGeom>
          <a:noFill/>
        </p:spPr>
        <p:txBody>
          <a:bodyPr wrap="square" rtlCol="0">
            <a:spAutoFit/>
          </a:bodyPr>
          <a:lstStyle/>
          <a:p>
            <a:r>
              <a:rPr lang="en-IN" sz="4000" b="1" u="sng" dirty="0"/>
              <a:t>Conclusion : </a:t>
            </a:r>
          </a:p>
        </p:txBody>
      </p:sp>
      <p:sp>
        <p:nvSpPr>
          <p:cNvPr id="4" name="TextBox 3"/>
          <p:cNvSpPr txBox="1"/>
          <p:nvPr/>
        </p:nvSpPr>
        <p:spPr>
          <a:xfrm>
            <a:off x="618565" y="770640"/>
            <a:ext cx="11152094" cy="6186309"/>
          </a:xfrm>
          <a:prstGeom prst="rect">
            <a:avLst/>
          </a:prstGeom>
          <a:noFill/>
        </p:spPr>
        <p:txBody>
          <a:bodyPr wrap="square" rtlCol="0">
            <a:spAutoFit/>
          </a:bodyPr>
          <a:lstStyle/>
          <a:p>
            <a:r>
              <a:rPr lang="en-IN" dirty="0"/>
              <a:t>1)</a:t>
            </a:r>
            <a:r>
              <a:rPr lang="en-IN" b="1" dirty="0"/>
              <a:t>We found Out of Total Bookings the City hotel makes  66.44% and Resort hotel makes 33.56% bookings means City hotel have more bookings percentage.</a:t>
            </a:r>
          </a:p>
          <a:p>
            <a:endParaRPr lang="en-IN" dirty="0"/>
          </a:p>
          <a:p>
            <a:r>
              <a:rPr lang="en-IN" dirty="0"/>
              <a:t>2)</a:t>
            </a:r>
            <a:r>
              <a:rPr lang="en-US" b="1" dirty="0"/>
              <a:t> City Hotel have 74.85% Cancellation Rate and Resort Hotel have  25.15% Cancellation Rate Which means City Hotel has Cancellation Rate and Resort Hotel less Cancellation Rate so City hotel need to look into .</a:t>
            </a:r>
            <a:endParaRPr lang="en-IN" b="1" dirty="0"/>
          </a:p>
          <a:p>
            <a:endParaRPr lang="en-IN" dirty="0"/>
          </a:p>
          <a:p>
            <a:r>
              <a:rPr lang="en-IN" dirty="0"/>
              <a:t>3)</a:t>
            </a:r>
            <a:r>
              <a:rPr lang="en-US" b="1" dirty="0"/>
              <a:t> City Hotel has a higher total waiting time compared to Resort Hotel.</a:t>
            </a:r>
            <a:br>
              <a:rPr lang="en-US" b="1" dirty="0"/>
            </a:br>
            <a:r>
              <a:rPr lang="en-US" b="1" dirty="0"/>
              <a:t>This indicates that guests staying at City Hotel generally experience more delays before check-in.</a:t>
            </a:r>
          </a:p>
          <a:p>
            <a:endParaRPr lang="en-US" b="1" dirty="0"/>
          </a:p>
          <a:p>
            <a:r>
              <a:rPr lang="en-US" b="1" dirty="0"/>
              <a:t>4) City Hotel consistently has more bookings than Resort Hotel in all three years (2015, 2016, 2017), 2016 shows the highest bookings overall, especially for City Hotel, Resort Hotel bookings are lower but stable, showing gradual growth from 2015 to 2017.</a:t>
            </a:r>
          </a:p>
          <a:p>
            <a:endParaRPr lang="en-US" b="1" dirty="0"/>
          </a:p>
          <a:p>
            <a:r>
              <a:rPr lang="en-US" b="1" dirty="0"/>
              <a:t>5) The number of guests varies significantly across countries, with some countries contributing a much higher(like PRT,GBR) which around brings 50k  guest. This helps identify the top guest-origin countries and those with low guest inflow.</a:t>
            </a:r>
          </a:p>
          <a:p>
            <a:endParaRPr lang="en-US" b="1" dirty="0"/>
          </a:p>
          <a:p>
            <a:r>
              <a:rPr lang="en-US" b="1" dirty="0"/>
              <a:t>6) City Hotel has more repeated guests (2032 → 53.33%) compared to Resort Hotel (1778 → 46.67%). This means City Hotel has slightly stronger customer loyalty and returning guest rate.</a:t>
            </a:r>
            <a:r>
              <a:rPr lang="en-US" b="1" dirty="0">
                <a:solidFill>
                  <a:srgbClr val="FFFFFF"/>
                </a:solidFill>
                <a:latin typeface="Segoe UI Variable Text" pitchFamily="2" charset="0"/>
              </a:rPr>
              <a:t> </a:t>
            </a:r>
          </a:p>
          <a:p>
            <a:endParaRPr lang="en-US" b="1" dirty="0"/>
          </a:p>
          <a:p>
            <a:endParaRPr lang="en-IN" b="1" dirty="0"/>
          </a:p>
          <a:p>
            <a:endParaRPr lang="en-IN"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6872" y="0"/>
            <a:ext cx="11358282" cy="7571303"/>
          </a:xfrm>
          <a:prstGeom prst="rect">
            <a:avLst/>
          </a:prstGeom>
          <a:noFill/>
        </p:spPr>
        <p:txBody>
          <a:bodyPr wrap="square" rtlCol="0">
            <a:spAutoFit/>
          </a:bodyPr>
          <a:lstStyle/>
          <a:p>
            <a:pPr lvl="0" defTabSz="914400" eaLnBrk="0" fontAlgn="base" hangingPunct="0">
              <a:spcBef>
                <a:spcPct val="0"/>
              </a:spcBef>
              <a:spcAft>
                <a:spcPct val="0"/>
              </a:spcAft>
            </a:pPr>
            <a:r>
              <a:rPr lang="en-US" altLang="en-US" b="1" dirty="0"/>
              <a:t>7)HB (Half Board) has 14K bookings, showing moderate preference , SC (Self Catering) has 11K bookings , FB (Full Board) and Undefined meals have very low bookings (around 1K),BB (Bed &amp; Breakfast) has the highest bookings with 92K, making it the most preferred meal type</a:t>
            </a:r>
            <a:r>
              <a:rPr lang="en-US" altLang="en-US" dirty="0"/>
              <a:t>.</a:t>
            </a:r>
          </a:p>
          <a:p>
            <a:pPr lvl="0" defTabSz="914400" eaLnBrk="0" fontAlgn="base" hangingPunct="0">
              <a:spcBef>
                <a:spcPct val="0"/>
              </a:spcBef>
              <a:spcAft>
                <a:spcPct val="0"/>
              </a:spcAft>
            </a:pPr>
            <a:endParaRPr lang="en-US" altLang="en-US" dirty="0"/>
          </a:p>
          <a:p>
            <a:r>
              <a:rPr lang="en-US" altLang="en-US" b="1" dirty="0"/>
              <a:t>8</a:t>
            </a:r>
            <a:r>
              <a:rPr lang="en-US" altLang="en-US" dirty="0"/>
              <a:t>)</a:t>
            </a:r>
            <a:r>
              <a:rPr lang="en-US" b="1" dirty="0"/>
              <a:t> August has the highest bookings (~14K).</a:t>
            </a:r>
          </a:p>
          <a:p>
            <a:r>
              <a:rPr lang="en-US" b="1" dirty="0"/>
              <a:t>  July, May, October, September also show strong performance (10K – 13K).</a:t>
            </a:r>
          </a:p>
          <a:p>
            <a:r>
              <a:rPr lang="en-US" b="1" dirty="0"/>
              <a:t>  January and December have the lowest bookings (~6K – 7K).</a:t>
            </a:r>
          </a:p>
          <a:p>
            <a:r>
              <a:rPr lang="en-US" b="1" dirty="0"/>
              <a:t>  Bookings gradually increase from Jan → Aug, then drop towards Nov–Dec.</a:t>
            </a:r>
          </a:p>
          <a:p>
            <a:endParaRPr lang="en-US" b="1" dirty="0"/>
          </a:p>
          <a:p>
            <a:pPr lvl="0" defTabSz="914400" eaLnBrk="0" fontAlgn="base" hangingPunct="0">
              <a:spcBef>
                <a:spcPct val="0"/>
              </a:spcBef>
              <a:spcAft>
                <a:spcPct val="0"/>
              </a:spcAft>
            </a:pPr>
            <a:r>
              <a:rPr lang="en-US" b="1" dirty="0"/>
              <a:t>9)</a:t>
            </a:r>
            <a:r>
              <a:rPr lang="en-US" altLang="en-US" b="1" dirty="0"/>
              <a:t> City Hotel has a much higher average waiting time (~3.2 days) compared to Resort Hotel (~1 day).</a:t>
            </a:r>
          </a:p>
          <a:p>
            <a:pPr lvl="0" defTabSz="914400" eaLnBrk="0" fontAlgn="base" hangingPunct="0">
              <a:spcBef>
                <a:spcPct val="0"/>
              </a:spcBef>
              <a:spcAft>
                <a:spcPct val="0"/>
              </a:spcAft>
            </a:pPr>
            <a:endParaRPr lang="en-US" altLang="en-US" b="1" dirty="0"/>
          </a:p>
          <a:p>
            <a:pPr lvl="0" defTabSz="914400" eaLnBrk="0" fontAlgn="base" hangingPunct="0">
              <a:spcBef>
                <a:spcPct val="0"/>
              </a:spcBef>
              <a:spcAft>
                <a:spcPct val="0"/>
              </a:spcAft>
            </a:pPr>
            <a:r>
              <a:rPr lang="en-US" altLang="en-US" b="1" dirty="0"/>
              <a:t>10)The most preferred room type is A type around 86k bookings prefers this room type  and 2</a:t>
            </a:r>
            <a:r>
              <a:rPr lang="en-US" altLang="en-US" b="1" baseline="30000" dirty="0"/>
              <a:t>nd</a:t>
            </a:r>
            <a:r>
              <a:rPr lang="en-US" altLang="en-US" b="1" dirty="0"/>
              <a:t> is B which is around                    19k bookings </a:t>
            </a:r>
            <a:r>
              <a:rPr lang="en-US" altLang="en-US" b="1" dirty="0" err="1"/>
              <a:t>prefrrs</a:t>
            </a:r>
            <a:r>
              <a:rPr lang="en-US" altLang="en-US" b="1" dirty="0"/>
              <a:t> but remaining are  room type is prefers in less than 10 k  bookings.</a:t>
            </a:r>
          </a:p>
          <a:p>
            <a:pPr lvl="0" defTabSz="914400" eaLnBrk="0" fontAlgn="base" hangingPunct="0">
              <a:spcBef>
                <a:spcPct val="0"/>
              </a:spcBef>
              <a:spcAft>
                <a:spcPct val="0"/>
              </a:spcAft>
            </a:pPr>
            <a:endParaRPr lang="en-US" altLang="en-US" b="1" dirty="0"/>
          </a:p>
          <a:p>
            <a:r>
              <a:rPr lang="en-US" altLang="en-US" b="1" dirty="0"/>
              <a:t>11)</a:t>
            </a:r>
            <a:r>
              <a:rPr lang="en-US" b="1" dirty="0"/>
              <a:t> Resort Hotel requires 85% of car parking spaces.</a:t>
            </a:r>
          </a:p>
          <a:p>
            <a:r>
              <a:rPr lang="en-US" b="1" dirty="0"/>
              <a:t>    City Hotel requires only 15%, showing very low parking demand.</a:t>
            </a:r>
          </a:p>
          <a:p>
            <a:endParaRPr lang="en-US" b="1" dirty="0"/>
          </a:p>
          <a:p>
            <a:pPr lvl="0" defTabSz="914400" eaLnBrk="0" fontAlgn="base" hangingPunct="0">
              <a:spcBef>
                <a:spcPct val="0"/>
              </a:spcBef>
              <a:spcAft>
                <a:spcPct val="0"/>
              </a:spcAft>
            </a:pPr>
            <a:r>
              <a:rPr lang="en-US" b="1" dirty="0"/>
              <a:t>12)</a:t>
            </a:r>
            <a:r>
              <a:rPr lang="en-US" altLang="en-US" b="1" dirty="0">
                <a:latin typeface="Arial" panose="020B0604020202020204" pitchFamily="34" charset="0"/>
              </a:rPr>
              <a:t> </a:t>
            </a:r>
            <a:r>
              <a:rPr lang="en-US" altLang="en-US" b="1" dirty="0"/>
              <a:t>City Hotel ADR (105.30) is higher than Resort Hotel ADR (94.95).</a:t>
            </a:r>
          </a:p>
          <a:p>
            <a:pPr lvl="0" defTabSz="914400" eaLnBrk="0" fontAlgn="base" hangingPunct="0">
              <a:spcBef>
                <a:spcPct val="0"/>
              </a:spcBef>
              <a:spcAft>
                <a:spcPct val="0"/>
              </a:spcAft>
            </a:pPr>
            <a:r>
              <a:rPr lang="en-US" altLang="en-US" b="1" dirty="0"/>
              <a:t>      The difference (~10.35) suggests City rooms earn more per night on average</a:t>
            </a:r>
            <a:r>
              <a:rPr lang="en-US" altLang="en-US" dirty="0"/>
              <a:t>.</a:t>
            </a:r>
          </a:p>
          <a:p>
            <a:pPr lvl="0" defTabSz="914400" eaLnBrk="0" fontAlgn="base" hangingPunct="0">
              <a:spcBef>
                <a:spcPct val="0"/>
              </a:spcBef>
              <a:spcAft>
                <a:spcPct val="0"/>
              </a:spcAft>
            </a:pPr>
            <a:endParaRPr lang="en-US" altLang="en-US" dirty="0"/>
          </a:p>
          <a:p>
            <a:pPr lvl="0" defTabSz="914400" eaLnBrk="0" fontAlgn="base" hangingPunct="0">
              <a:spcBef>
                <a:spcPct val="0"/>
              </a:spcBef>
              <a:spcAft>
                <a:spcPct val="0"/>
              </a:spcAft>
            </a:pPr>
            <a:r>
              <a:rPr lang="en-US" altLang="en-US" b="1" dirty="0"/>
              <a:t>13) A few agents (like Agent 9, 240, 14) generate the majority of bookings , Many agents have very low booking   counts, showing uneven performance.</a:t>
            </a:r>
          </a:p>
          <a:p>
            <a:pPr lvl="0" defTabSz="914400" eaLnBrk="0" fontAlgn="base" hangingPunct="0">
              <a:spcBef>
                <a:spcPct val="0"/>
              </a:spcBef>
              <a:spcAft>
                <a:spcPct val="0"/>
              </a:spcAft>
            </a:pPr>
            <a:r>
              <a:rPr lang="en-US" altLang="en-US" b="1" dirty="0"/>
              <a:t>Direct visit booking are in place of 2</a:t>
            </a:r>
            <a:r>
              <a:rPr lang="en-US" altLang="en-US" b="1" baseline="30000" dirty="0"/>
              <a:t>nd</a:t>
            </a:r>
            <a:r>
              <a:rPr lang="en-US" altLang="en-US" b="1" dirty="0"/>
              <a:t> number so we can boost it to reduce agent commission.</a:t>
            </a:r>
          </a:p>
          <a:p>
            <a:pPr lvl="0" defTabSz="914400" eaLnBrk="0" fontAlgn="base" hangingPunct="0">
              <a:spcBef>
                <a:spcPct val="0"/>
              </a:spcBef>
              <a:spcAft>
                <a:spcPct val="0"/>
              </a:spcAft>
            </a:pPr>
            <a:endParaRPr lang="en-US" altLang="en-US" dirty="0"/>
          </a:p>
          <a:p>
            <a:endParaRPr lang="en-US" b="1" dirty="0"/>
          </a:p>
          <a:p>
            <a:pPr lvl="0" defTabSz="914400" eaLnBrk="0" fontAlgn="base" hangingPunct="0">
              <a:spcBef>
                <a:spcPct val="0"/>
              </a:spcBef>
              <a:spcAft>
                <a:spcPct val="0"/>
              </a:spcAft>
            </a:pPr>
            <a:endParaRPr lang="en-US" altLang="en-US" b="1" dirty="0"/>
          </a:p>
          <a:p>
            <a:pPr lvl="0" defTabSz="914400" eaLnBrk="0" fontAlgn="base" hangingPunct="0">
              <a:spcBef>
                <a:spcPct val="0"/>
              </a:spcBef>
              <a:spcAft>
                <a:spcPct val="0"/>
              </a:spcAft>
            </a:pPr>
            <a:endParaRPr lang="en-US"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29988" y="94130"/>
            <a:ext cx="11501718" cy="7294305"/>
          </a:xfrm>
          <a:prstGeom prst="rect">
            <a:avLst/>
          </a:prstGeom>
          <a:noFill/>
        </p:spPr>
        <p:txBody>
          <a:bodyPr wrap="square" rtlCol="0">
            <a:spAutoFit/>
          </a:bodyPr>
          <a:lstStyle/>
          <a:p>
            <a:pPr lvl="0" defTabSz="914400" eaLnBrk="0" fontAlgn="base" hangingPunct="0">
              <a:spcBef>
                <a:spcPct val="0"/>
              </a:spcBef>
              <a:spcAft>
                <a:spcPct val="0"/>
              </a:spcAft>
            </a:pPr>
            <a:r>
              <a:rPr lang="en-US" altLang="en-US" b="1" dirty="0">
                <a:latin typeface="Arial" panose="020B0604020202020204" pitchFamily="34" charset="0"/>
              </a:rPr>
              <a:t>14) </a:t>
            </a:r>
            <a:r>
              <a:rPr lang="en-US" altLang="en-US" b="1" dirty="0"/>
              <a:t>Repeated bookings increased sharply from 2015 (641) to 2016 (1778) ,</a:t>
            </a:r>
          </a:p>
          <a:p>
            <a:pPr lvl="0" defTabSz="914400" eaLnBrk="0" fontAlgn="base" hangingPunct="0">
              <a:spcBef>
                <a:spcPct val="0"/>
              </a:spcBef>
              <a:spcAft>
                <a:spcPct val="0"/>
              </a:spcAft>
            </a:pPr>
            <a:r>
              <a:rPr lang="en-US" altLang="en-US" b="1" dirty="0"/>
              <a:t> They slightly declined in 2017 (1391) but remained higher than 2015. </a:t>
            </a:r>
          </a:p>
          <a:p>
            <a:pPr lvl="0" defTabSz="914400" eaLnBrk="0" fontAlgn="base" hangingPunct="0">
              <a:spcBef>
                <a:spcPct val="0"/>
              </a:spcBef>
              <a:spcAft>
                <a:spcPct val="0"/>
              </a:spcAft>
            </a:pPr>
            <a:endParaRPr lang="en-US" altLang="en-US" b="1" dirty="0"/>
          </a:p>
          <a:p>
            <a:pPr defTabSz="914400" eaLnBrk="0" fontAlgn="base" hangingPunct="0">
              <a:spcBef>
                <a:spcPct val="0"/>
              </a:spcBef>
              <a:spcAft>
                <a:spcPct val="0"/>
              </a:spcAft>
            </a:pPr>
            <a:r>
              <a:rPr lang="en-US" altLang="en-US" b="1" dirty="0"/>
              <a:t> 15) Here we see that City Hotel have 66.44% Customer Satisfaction ratio which greater than Resort Hotel who have    33.56% Satisfaction ratio.</a:t>
            </a:r>
          </a:p>
          <a:p>
            <a:pPr defTabSz="914400" eaLnBrk="0" fontAlgn="base" hangingPunct="0">
              <a:spcBef>
                <a:spcPct val="0"/>
              </a:spcBef>
              <a:spcAft>
                <a:spcPct val="0"/>
              </a:spcAft>
            </a:pPr>
            <a:endParaRPr lang="en-US" altLang="en-US" b="1" dirty="0"/>
          </a:p>
          <a:p>
            <a:r>
              <a:rPr lang="en-US" altLang="en-US" b="1" dirty="0"/>
              <a:t>16 )</a:t>
            </a:r>
            <a:r>
              <a:rPr lang="en-US" b="1" dirty="0"/>
              <a:t> Online TA has the highest bookings (36K).</a:t>
            </a:r>
          </a:p>
          <a:p>
            <a:r>
              <a:rPr lang="en-US" b="1" dirty="0"/>
              <a:t>        Offline TA/TO is the second highest (16K).</a:t>
            </a:r>
          </a:p>
          <a:p>
            <a:r>
              <a:rPr lang="en-US" b="1" dirty="0"/>
              <a:t>        Direct, Groups, Corporate have moderate bookings.</a:t>
            </a:r>
          </a:p>
          <a:p>
            <a:r>
              <a:rPr lang="en-US" b="1" dirty="0"/>
              <a:t>        Complementary and Aviation contribute very little.</a:t>
            </a:r>
          </a:p>
          <a:p>
            <a:pPr defTabSz="914400" eaLnBrk="0" fontAlgn="base" hangingPunct="0">
              <a:spcBef>
                <a:spcPct val="0"/>
              </a:spcBef>
              <a:spcAft>
                <a:spcPct val="0"/>
              </a:spcAft>
            </a:pPr>
            <a:endParaRPr lang="en-US" altLang="en-US" b="1" dirty="0"/>
          </a:p>
          <a:p>
            <a:pPr lvl="0" defTabSz="914400" eaLnBrk="0" fontAlgn="base" hangingPunct="0">
              <a:spcBef>
                <a:spcPct val="0"/>
              </a:spcBef>
              <a:spcAft>
                <a:spcPct val="0"/>
              </a:spcAft>
            </a:pPr>
            <a:r>
              <a:rPr lang="en-US" altLang="en-US" b="1" dirty="0"/>
              <a:t>17) Transient customers form the largest share for both hotels (City: 32.3K, Resort: 20.8K).</a:t>
            </a:r>
          </a:p>
          <a:p>
            <a:pPr lvl="0" defTabSz="914400" eaLnBrk="0" fontAlgn="base" hangingPunct="0">
              <a:spcBef>
                <a:spcPct val="0"/>
              </a:spcBef>
              <a:spcAft>
                <a:spcPct val="0"/>
              </a:spcAft>
            </a:pPr>
            <a:r>
              <a:rPr lang="en-US" altLang="en-US" b="1" dirty="0"/>
              <a:t>      Transient-Party is the second highest for both hotels.</a:t>
            </a:r>
          </a:p>
          <a:p>
            <a:pPr lvl="0" defTabSz="914400" eaLnBrk="0" fontAlgn="base" hangingPunct="0">
              <a:spcBef>
                <a:spcPct val="0"/>
              </a:spcBef>
              <a:spcAft>
                <a:spcPct val="0"/>
              </a:spcAft>
            </a:pPr>
            <a:r>
              <a:rPr lang="en-US" altLang="en-US" b="1" dirty="0"/>
              <a:t>      Contract and Group customers contribute very little.</a:t>
            </a:r>
          </a:p>
          <a:p>
            <a:pPr lvl="0" defTabSz="914400" eaLnBrk="0" fontAlgn="base" hangingPunct="0">
              <a:spcBef>
                <a:spcPct val="0"/>
              </a:spcBef>
              <a:spcAft>
                <a:spcPct val="0"/>
              </a:spcAft>
            </a:pPr>
            <a:r>
              <a:rPr lang="en-US" altLang="en-US" b="1" dirty="0"/>
              <a:t>      City Hotel consistently has more bookings than Resort Hotel in all customer types.</a:t>
            </a:r>
          </a:p>
          <a:p>
            <a:pPr lvl="0" defTabSz="914400" eaLnBrk="0" fontAlgn="base" hangingPunct="0">
              <a:spcBef>
                <a:spcPct val="0"/>
              </a:spcBef>
              <a:spcAft>
                <a:spcPct val="0"/>
              </a:spcAft>
            </a:pPr>
            <a:endParaRPr lang="en-US" altLang="en-US" b="1" dirty="0"/>
          </a:p>
          <a:p>
            <a:pPr lvl="0" defTabSz="914400" eaLnBrk="0" fontAlgn="base" hangingPunct="0">
              <a:spcBef>
                <a:spcPct val="0"/>
              </a:spcBef>
              <a:spcAft>
                <a:spcPct val="0"/>
              </a:spcAft>
            </a:pPr>
            <a:endParaRPr lang="en-US" altLang="en-US" b="1" dirty="0"/>
          </a:p>
          <a:p>
            <a:r>
              <a:rPr lang="en-US" altLang="en-US" b="1" dirty="0"/>
              <a:t>18 ) </a:t>
            </a:r>
            <a:r>
              <a:rPr lang="en-US" b="1" dirty="0"/>
              <a:t>City Hotel has the higher total stay: 236K(days)(57.73%)</a:t>
            </a:r>
          </a:p>
          <a:p>
            <a:r>
              <a:rPr lang="en-US" b="1" dirty="0"/>
              <a:t>        Resort Hotel, while lower, still has a significant share: 173K (days)(42.27%)</a:t>
            </a:r>
          </a:p>
          <a:p>
            <a:r>
              <a:rPr lang="en-US" b="1" dirty="0"/>
              <a:t>        City Hotel handles more total stays overall.</a:t>
            </a:r>
          </a:p>
          <a:p>
            <a:pPr defTabSz="914400" eaLnBrk="0" fontAlgn="base" hangingPunct="0">
              <a:spcBef>
                <a:spcPct val="0"/>
              </a:spcBef>
              <a:spcAft>
                <a:spcPct val="0"/>
              </a:spcAft>
            </a:pPr>
            <a:endParaRPr lang="en-US" altLang="en-US" b="1" dirty="0"/>
          </a:p>
          <a:p>
            <a:pPr defTabSz="914400" eaLnBrk="0" fontAlgn="base" hangingPunct="0">
              <a:spcBef>
                <a:spcPct val="0"/>
              </a:spcBef>
              <a:spcAft>
                <a:spcPct val="0"/>
              </a:spcAft>
            </a:pPr>
            <a:endParaRPr lang="en-US" altLang="en-US" b="1" dirty="0"/>
          </a:p>
          <a:p>
            <a:pPr defTabSz="914400" eaLnBrk="0" fontAlgn="base" hangingPunct="0">
              <a:spcBef>
                <a:spcPct val="0"/>
              </a:spcBef>
              <a:spcAft>
                <a:spcPct val="0"/>
              </a:spcAft>
            </a:pPr>
            <a:endParaRPr lang="en-US" altLang="en-US" b="1" dirty="0"/>
          </a:p>
          <a:p>
            <a:pPr defTabSz="914400" eaLnBrk="0" fontAlgn="base" hangingPunct="0">
              <a:spcBef>
                <a:spcPct val="0"/>
              </a:spcBef>
              <a:spcAft>
                <a:spcPct val="0"/>
              </a:spcAft>
            </a:pPr>
            <a:endParaRPr lang="en-US" altLang="en-US" b="1" dirty="0"/>
          </a:p>
          <a:p>
            <a:pPr defTabSz="914400" eaLnBrk="0" fontAlgn="base" hangingPunct="0">
              <a:spcBef>
                <a:spcPct val="0"/>
              </a:spcBef>
              <a:spcAft>
                <a:spcPct val="0"/>
              </a:spcAft>
            </a:pPr>
            <a:endParaRPr lang="en-US" altLang="en-US" b="1" dirty="0"/>
          </a:p>
          <a:p>
            <a:pPr defTabSz="914400" eaLnBrk="0" fontAlgn="base" hangingPunct="0">
              <a:spcBef>
                <a:spcPct val="0"/>
              </a:spcBef>
              <a:spcAft>
                <a:spcPct val="0"/>
              </a:spcAft>
            </a:pPr>
            <a:r>
              <a:rPr lang="en-US" altLang="en-US" b="1" dirty="0"/>
              <a:t>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6188" y="0"/>
            <a:ext cx="8184776" cy="923330"/>
          </a:xfrm>
          <a:prstGeom prst="rect">
            <a:avLst/>
          </a:prstGeom>
          <a:noFill/>
        </p:spPr>
        <p:txBody>
          <a:bodyPr wrap="square" rtlCol="0">
            <a:spAutoFit/>
          </a:bodyPr>
          <a:lstStyle/>
          <a:p>
            <a:pPr lvl="0" defTabSz="914400" eaLnBrk="0" fontAlgn="base" hangingPunct="0">
              <a:spcBef>
                <a:spcPct val="0"/>
              </a:spcBef>
              <a:spcAft>
                <a:spcPct val="0"/>
              </a:spcAft>
            </a:pPr>
            <a:r>
              <a:rPr lang="en-US" altLang="en-US" b="1" dirty="0"/>
              <a:t>19 )City Hotel has more special requests (43K).</a:t>
            </a:r>
          </a:p>
          <a:p>
            <a:pPr lvl="0" defTabSz="914400" eaLnBrk="0" fontAlgn="base" hangingPunct="0">
              <a:spcBef>
                <a:spcPct val="0"/>
              </a:spcBef>
              <a:spcAft>
                <a:spcPct val="0"/>
              </a:spcAft>
            </a:pPr>
            <a:r>
              <a:rPr lang="en-US" altLang="en-US" b="1" dirty="0"/>
              <a:t>Resort Hotel has fewer special requests (25K).</a:t>
            </a:r>
          </a:p>
          <a:p>
            <a:pPr lvl="0" defTabSz="914400" eaLnBrk="0" fontAlgn="base" hangingPunct="0">
              <a:spcBef>
                <a:spcPct val="0"/>
              </a:spcBef>
              <a:spcAft>
                <a:spcPct val="0"/>
              </a:spcAft>
            </a:pPr>
            <a:r>
              <a:rPr lang="en-US" altLang="en-US" b="1" dirty="0"/>
              <a:t>City Hotel guests may require more </a:t>
            </a:r>
            <a:r>
              <a:rPr lang="en-US" altLang="en-US" b="1" dirty="0" err="1"/>
              <a:t>personalised</a:t>
            </a:r>
            <a:r>
              <a:rPr lang="en-US" altLang="en-US" b="1" dirty="0"/>
              <a:t> services .</a:t>
            </a:r>
            <a:endParaRPr lang="en-IN"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88023" y="2196353"/>
            <a:ext cx="9663953" cy="1446550"/>
          </a:xfrm>
          <a:prstGeom prst="rect">
            <a:avLst/>
          </a:prstGeom>
          <a:noFill/>
        </p:spPr>
        <p:txBody>
          <a:bodyPr wrap="square" rtlCol="0">
            <a:spAutoFit/>
          </a:bodyPr>
          <a:lstStyle/>
          <a:p>
            <a:r>
              <a:rPr lang="en-IN" sz="8800" dirty="0">
                <a:latin typeface="Algerian" panose="04020705040A02060702" pitchFamily="82" charset="0"/>
              </a:rPr>
              <a:t>Thank You …..</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18</TotalTime>
  <Words>4570</Words>
  <Application>Microsoft Office PowerPoint</Application>
  <PresentationFormat>Widescreen</PresentationFormat>
  <Paragraphs>486</Paragraphs>
  <Slides>54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Algerian</vt:lpstr>
      <vt:lpstr>Arial</vt:lpstr>
      <vt:lpstr>Arial Black</vt:lpstr>
      <vt:lpstr>Calibri</vt:lpstr>
      <vt:lpstr>Garamond</vt:lpstr>
      <vt:lpstr>Segoe UI Variable Text</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Name – Hotel Booking  Project Type – EDA  Contribution  -Team   Guidance – Abhishek Wavhal</dc:title>
  <dc:creator>Rohan Bhore</dc:creator>
  <cp:lastModifiedBy>Rohan Bhore</cp:lastModifiedBy>
  <cp:revision>125</cp:revision>
  <dcterms:created xsi:type="dcterms:W3CDTF">2025-11-25T06:03:00Z</dcterms:created>
  <dcterms:modified xsi:type="dcterms:W3CDTF">2025-12-07T15:14:05Z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66F132DF7D1B44C78E22D7731FAD3057_12</vt:lpwstr>
  </property>
  <property fmtid="{D5CDD505-2E9C-101B-9397-08002B2CF9AE}" pid="3" name="KSOProductBuildVer">
    <vt:lpwstr>1033-12.2.0.23155</vt:lpwstr>
  </property>
</Properties>
</file>